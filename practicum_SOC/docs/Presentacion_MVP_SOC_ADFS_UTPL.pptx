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Casos históricos</c:v>
          </c:tx>
          <c:spPr>
            <a:solidFill>
              <a:srgbClr val="A02B93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Antes</c:v>
              </c:pt>
              <c:pt idx="1">
                <c:v>Reclasificados</c:v>
              </c:pt>
              <c:pt idx="2">
                <c:v>Conservados</c:v>
              </c:pt>
            </c:strLit>
          </c:cat>
          <c:val>
            <c:numLit>
              <c:formatCode>General</c:formatCode>
              <c:ptCount val="3"/>
              <c:pt idx="0">
                <c:v>3460</c:v>
              </c:pt>
              <c:pt idx="1">
                <c:v>2520</c:v>
              </c:pt>
              <c:pt idx="2">
                <c:v>940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294E-471E-B01F-36DE4DF674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C9DAE5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D4D4D4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1"/>
  </c:chart>
  <c:spPr>
    <a:noFill/>
    <a:ln w="12700">
      <a:noFill/>
      <a:prstDash val="solid"/>
    </a:ln>
    <a:effectLst/>
  </c:spPr>
  <c:txPr>
    <a:bodyPr/>
    <a:lstStyle/>
    <a:p>
      <a:pPr>
        <a:defRPr/>
      </a:pPr>
      <a:endParaRPr lang="es-MX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Presentar el sistema como apoyo para priorizar autenticaciones sospechosas, no como una herramienta que confirma ataques.</a:t>
            </a:r>
          </a:p>
          <a:p>
            <a:endParaRPr/>
          </a:p>
          <a:p>
            <a:r>
              <a:t>[Sources]</a:t>
            </a:r>
          </a:p>
          <a:p>
            <a:r>
              <a:t>- C:\Users\ASUS FLOW\Desktop\practicum2.2\practicum2.2\practicum_SOC\static\utpl-institucional-azul.png</a:t>
            </a:r>
          </a:p>
          <a:p>
            <a:r>
              <a:t>- docs/project_guide.md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8411-D646-CF99-61BC-C80DEB94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2BE0E-9DE5-1948-0EF2-36C4317C9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4B998-83AB-F4FB-0220-7964A5BC5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la reducción progresiva: datos brutos, datos válidos, periodo de evaluación y casos.</a:t>
            </a:r>
          </a:p>
          <a:p>
            <a:r>
              <a:t>- Aclarar que nueve alertas corresponden al CSV histórico con las reglas recalibradas.</a:t>
            </a:r>
          </a:p>
          <a:p>
            <a:endParaRPr/>
          </a:p>
          <a:p>
            <a:r>
              <a:t>[Sources]</a:t>
            </a:r>
          </a:p>
          <a:p>
            <a:r>
              <a:t>- analysis/normalization_stats.json</a:t>
            </a:r>
          </a:p>
          <a:p>
            <a:r>
              <a:t>- analysis/baseline/baseline_summary.json</a:t>
            </a:r>
          </a:p>
          <a:p>
            <a:r>
              <a:t>- analysis/alerts/alert_summary.json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5F994-EEE2-EAF6-D298-BFBACD84DA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9706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7337-4369-3FEE-8938-CD519710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C908D-6864-51BD-F9BA-63356340D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305E0-4DA1-6303-B098-1234C156F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la reducción progresiva: datos brutos, datos válidos, periodo de evaluación y casos.</a:t>
            </a:r>
          </a:p>
          <a:p>
            <a:r>
              <a:t>- Aclarar que nueve alertas corresponden al CSV histórico con las reglas recalibradas.</a:t>
            </a:r>
          </a:p>
          <a:p>
            <a:endParaRPr/>
          </a:p>
          <a:p>
            <a:r>
              <a:t>[Sources]</a:t>
            </a:r>
          </a:p>
          <a:p>
            <a:r>
              <a:t>- analysis/normalization_stats.json</a:t>
            </a:r>
          </a:p>
          <a:p>
            <a:r>
              <a:t>- analysis/baseline/baseline_summary.json</a:t>
            </a:r>
          </a:p>
          <a:p>
            <a:r>
              <a:t>- analysis/alerts/alert_summary.json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E0AA5-89FD-9E84-2351-82AB3A8409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4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Recorrer el flujo de izquierda a derecha.</a:t>
            </a:r>
          </a:p>
          <a:p>
            <a:r>
              <a:t>- Destacar la separación de responsabilidades como una decisión de mantenibilidad.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</a:t>
            </a:r>
          </a:p>
          <a:p>
            <a:r>
              <a:t>- docs/project_guide.md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que la base institucional nunca se modifica.</a:t>
            </a:r>
          </a:p>
          <a:p>
            <a:r>
              <a:t>- Diferenciar los campos de usuario/IP del evento frente a cuentas técnicas o servidores.</a:t>
            </a:r>
          </a:p>
          <a:p>
            <a:endParaRPr/>
          </a:p>
          <a:p>
            <a:r>
              <a:t>[Sources]</a:t>
            </a:r>
          </a:p>
          <a:p>
            <a:r>
              <a:t>- src/event_source.py</a:t>
            </a:r>
          </a:p>
          <a:p>
            <a:r>
              <a:t>- src/normalize_events.py</a:t>
            </a:r>
          </a:p>
          <a:p>
            <a:r>
              <a:t>- config/normalization.json</a:t>
            </a:r>
          </a:p>
          <a:p>
            <a:r>
              <a:t>- docs/data_dictionary.md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entrenamiento como referencia y evaluación como periodo donde se buscan desviaciones.</a:t>
            </a:r>
          </a:p>
          <a:p>
            <a:r>
              <a:t>- Aclarar que una IP nueva solo se evalúa si el usuario posee historial suficiente.</a:t>
            </a:r>
          </a:p>
          <a:p>
            <a:endParaRPr/>
          </a:p>
          <a:p>
            <a:r>
              <a:t>[Sources]</a:t>
            </a:r>
          </a:p>
          <a:p>
            <a:r>
              <a:t>- analysis/baseline/baseline_summary.json</a:t>
            </a:r>
          </a:p>
          <a:p>
            <a:r>
              <a:t>- src/build_baseline.py</a:t>
            </a:r>
          </a:p>
          <a:p>
            <a:r>
              <a:t>- config/baseline.json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la ventana de diez minutos con un ejemplo sencillo.</a:t>
            </a:r>
          </a:p>
          <a:p>
            <a:r>
              <a:t>- Indicar que los umbrales son configurables y deben validarse con la Dirección.</a:t>
            </a:r>
          </a:p>
          <a:p>
            <a:endParaRPr/>
          </a:p>
          <a:p>
            <a:r>
              <a:t>[Sources]</a:t>
            </a:r>
          </a:p>
          <a:p>
            <a:r>
              <a:t>- config/detection_rules.json</a:t>
            </a:r>
          </a:p>
          <a:p>
            <a:r>
              <a:t>- docs/rules_catalog.md</a:t>
            </a:r>
          </a:p>
          <a:p>
            <a:r>
              <a:t>- src/detect_alerts.py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Diferenciar ruido de datos: los eventos permanecen, pero dejan de ocupar la cola operativa.</a:t>
            </a:r>
          </a:p>
          <a:p>
            <a:r>
              <a:t>- Aclarar que 940 son señales históricas que cumplen reglas, no ataques confirmados.</a:t>
            </a:r>
          </a:p>
          <a:p>
            <a:endParaRPr/>
          </a:p>
          <a:p>
            <a:r>
              <a:t>[Sources]</a:t>
            </a:r>
          </a:p>
          <a:p>
            <a:r>
              <a:t>- analysis/reports/alert_recalibration_20260728_174954.json</a:t>
            </a:r>
          </a:p>
          <a:p>
            <a:r>
              <a:t>- config/exclusions.json</a:t>
            </a:r>
          </a:p>
          <a:p>
            <a:r>
              <a:t>- tests/test_detect_alerts.py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Explicar que soc_inbox es el canal local de demostración.</a:t>
            </a:r>
          </a:p>
          <a:p>
            <a:r>
              <a:t>- Mostrar que resolved y false_positive son cierres diferentes y quedan auditados.</a:t>
            </a:r>
          </a:p>
          <a:p>
            <a:endParaRPr/>
          </a:p>
          <a:p>
            <a:r>
              <a:t>[Sources]</a:t>
            </a:r>
          </a:p>
          <a:p>
            <a:r>
              <a:t>- src/alert_store.py</a:t>
            </a:r>
          </a:p>
          <a:p>
            <a:r>
              <a:t>- src/notifications.py</a:t>
            </a:r>
          </a:p>
          <a:p>
            <a:r>
              <a:t>- docs/alerts.md</a:t>
            </a:r>
          </a:p>
          <a:p>
            <a:r>
              <a:t>- docs/operations.md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Aclarar que los comandos PostgreSQL requieren la red autorizada y .env configurado.</a:t>
            </a:r>
          </a:p>
          <a:p>
            <a:r>
              <a:t>- Para una exposición rápida, recomendar run_live_today.ps1.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run_analysis.ps1</a:t>
            </a:r>
          </a:p>
          <a:p>
            <a:r>
              <a:t>- run_monitor.ps1</a:t>
            </a:r>
          </a:p>
          <a:p>
            <a:r>
              <a:t>- run_live_today.ps1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Justificar cada dependencia por su función concreta.</a:t>
            </a:r>
          </a:p>
          <a:p>
            <a:r>
              <a:t>- Destacar que el MVP evita componentes innecesarios para facilitar mantenimiento.</a:t>
            </a:r>
          </a:p>
          <a:p>
            <a:endParaRPr/>
          </a:p>
          <a:p>
            <a:r>
              <a:t>[Sources]</a:t>
            </a:r>
          </a:p>
          <a:p>
            <a:r>
              <a:t>- requirements.txt</a:t>
            </a:r>
          </a:p>
          <a:p>
            <a:r>
              <a:t>- docs/project_guide.md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Puntos para explicar:</a:t>
            </a:r>
          </a:p>
          <a:p>
            <a:r>
              <a:t>- Cerrar retomando el objetivo: apoyar la detección temprana y la investigación.</a:t>
            </a:r>
          </a:p>
          <a:p>
            <a:r>
              <a:t>- Reconocer límites institucionales pendientes como una decisión responsable, no como una falla del MVP.</a:t>
            </a:r>
          </a:p>
          <a:p>
            <a:endParaRPr/>
          </a:p>
          <a:p>
            <a:r>
              <a:t>[Sources]</a:t>
            </a:r>
          </a:p>
          <a:p>
            <a:r>
              <a:t>- docs/defense_guide.md</a:t>
            </a:r>
          </a:p>
          <a:p>
            <a:r>
              <a:t>- docs/security.md</a:t>
            </a:r>
          </a:p>
          <a:p>
            <a:r>
              <a:t>- docs/rules_catalog.md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accent">
            <a:extLst>
              <a:ext uri="{FF2B5EF4-FFF2-40B4-BE49-F238E27FC236}">
                <a16:creationId xmlns:a16="http://schemas.microsoft.com/office/drawing/2014/main" id="{21567CB0-F000-45AC-BB76-A1BD7440C5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789531"/>
            <a:ext cx="1428750" cy="2935788"/>
          </a:xfrm>
          <a:prstGeom prst="rect">
            <a:avLst/>
          </a:prstGeom>
        </p:spPr>
      </p:pic>
      <p:sp>
        <p:nvSpPr>
          <p:cNvPr id="3" name="cover-eyebrow">
            <a:extLst>
              <a:ext uri="{FF2B5EF4-FFF2-40B4-BE49-F238E27FC236}">
                <a16:creationId xmlns:a16="http://schemas.microsoft.com/office/drawing/2014/main" id="{9395AACE-F02B-4E9F-9E54-651711E4296D}"/>
              </a:ext>
            </a:extLst>
          </p:cNvPr>
          <p:cNvSpPr>
            <a:spLocks noGrp="1"/>
          </p:cNvSpPr>
          <p:nvPr/>
        </p:nvSpPr>
        <p:spPr>
          <a:xfrm>
            <a:off x="2762250" y="112395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0669B"/>
                </a:solidFill>
              </a:defRPr>
            </a:pPr>
            <a:r>
              <a:rPr sz="1350" b="1" i="0">
                <a:solidFill>
                  <a:srgbClr val="00669B"/>
                </a:solidFill>
              </a:rPr>
              <a:t>PRÁCTICUM 2.2 · DGTITD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7DEFD5C1-A18F-42FA-931B-B55C12D3D497}"/>
              </a:ext>
            </a:extLst>
          </p:cNvPr>
          <p:cNvSpPr>
            <a:spLocks noGrp="1"/>
          </p:cNvSpPr>
          <p:nvPr/>
        </p:nvSpPr>
        <p:spPr>
          <a:xfrm>
            <a:off x="2762250" y="1571625"/>
            <a:ext cx="8515350" cy="2153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 i="0">
                <a:solidFill>
                  <a:srgbClr val="123247"/>
                </a:solidFill>
              </a:defRPr>
            </a:pPr>
            <a:r>
              <a:rPr sz="4800" b="1" i="0" dirty="0" err="1">
                <a:solidFill>
                  <a:srgbClr val="123247"/>
                </a:solidFill>
              </a:rPr>
              <a:t>Monitoreo</a:t>
            </a:r>
            <a:r>
              <a:rPr sz="4800" b="1" i="0" dirty="0">
                <a:solidFill>
                  <a:srgbClr val="123247"/>
                </a:solidFill>
              </a:rPr>
              <a:t> y </a:t>
            </a:r>
            <a:r>
              <a:rPr sz="4800" b="1" i="0" dirty="0" err="1">
                <a:solidFill>
                  <a:srgbClr val="123247"/>
                </a:solidFill>
              </a:rPr>
              <a:t>alertamiento</a:t>
            </a:r>
            <a:endParaRPr sz="4800" b="1" i="0" dirty="0">
              <a:solidFill>
                <a:srgbClr val="123247"/>
              </a:solidFill>
            </a:endParaRPr>
          </a:p>
          <a:p>
            <a:pPr algn="l">
              <a:defRPr sz="3900" b="1" i="0">
                <a:solidFill>
                  <a:srgbClr val="123247"/>
                </a:solidFill>
              </a:defRPr>
            </a:pPr>
            <a:r>
              <a:rPr sz="4800" b="1" i="0" dirty="0">
                <a:solidFill>
                  <a:srgbClr val="123247"/>
                </a:solidFill>
              </a:rPr>
              <a:t>de </a:t>
            </a:r>
            <a:r>
              <a:rPr sz="4800" b="1" i="0" dirty="0" err="1">
                <a:solidFill>
                  <a:srgbClr val="123247"/>
                </a:solidFill>
              </a:rPr>
              <a:t>autenticaciones</a:t>
            </a:r>
            <a:r>
              <a:rPr sz="4800" b="1" i="0" dirty="0">
                <a:solidFill>
                  <a:srgbClr val="123247"/>
                </a:solidFill>
              </a:rPr>
              <a:t> ADFS</a:t>
            </a:r>
          </a:p>
        </p:txBody>
      </p:sp>
      <p:sp>
        <p:nvSpPr>
          <p:cNvPr id="6" name="cover-rule">
            <a:extLst>
              <a:ext uri="{FF2B5EF4-FFF2-40B4-BE49-F238E27FC236}">
                <a16:creationId xmlns:a16="http://schemas.microsoft.com/office/drawing/2014/main" id="{4AF11A63-3789-447C-8AD0-4896ACF7454D}"/>
              </a:ext>
            </a:extLst>
          </p:cNvPr>
          <p:cNvSpPr>
            <a:spLocks noGrp="1"/>
          </p:cNvSpPr>
          <p:nvPr/>
        </p:nvSpPr>
        <p:spPr>
          <a:xfrm>
            <a:off x="2800350" y="4038600"/>
            <a:ext cx="2095500" cy="57150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cover-author">
            <a:extLst>
              <a:ext uri="{FF2B5EF4-FFF2-40B4-BE49-F238E27FC236}">
                <a16:creationId xmlns:a16="http://schemas.microsoft.com/office/drawing/2014/main" id="{2BD2B7A3-F703-4864-B370-A5EA589C7E1F}"/>
              </a:ext>
            </a:extLst>
          </p:cNvPr>
          <p:cNvSpPr>
            <a:spLocks noGrp="1"/>
          </p:cNvSpPr>
          <p:nvPr/>
        </p:nvSpPr>
        <p:spPr>
          <a:xfrm>
            <a:off x="2800350" y="44291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23247"/>
                </a:solidFill>
              </a:defRPr>
            </a:pPr>
            <a:r>
              <a:rPr sz="1650" b="1" i="0">
                <a:solidFill>
                  <a:srgbClr val="123247"/>
                </a:solidFill>
              </a:rPr>
              <a:t>Jean Carlos Cuenca</a:t>
            </a:r>
          </a:p>
        </p:txBody>
      </p:sp>
      <p:sp>
        <p:nvSpPr>
          <p:cNvPr id="8" name="cover-context">
            <a:extLst>
              <a:ext uri="{FF2B5EF4-FFF2-40B4-BE49-F238E27FC236}">
                <a16:creationId xmlns:a16="http://schemas.microsoft.com/office/drawing/2014/main" id="{BDD04469-F736-471D-B184-912EBDCD7E0A}"/>
              </a:ext>
            </a:extLst>
          </p:cNvPr>
          <p:cNvSpPr>
            <a:spLocks noGrp="1"/>
          </p:cNvSpPr>
          <p:nvPr/>
        </p:nvSpPr>
        <p:spPr>
          <a:xfrm>
            <a:off x="2800350" y="4781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Universidad Técnica Particular de Loja</a:t>
            </a:r>
          </a:p>
        </p:txBody>
      </p:sp>
      <p:sp>
        <p:nvSpPr>
          <p:cNvPr id="9" name="cover-date">
            <a:extLst>
              <a:ext uri="{FF2B5EF4-FFF2-40B4-BE49-F238E27FC236}">
                <a16:creationId xmlns:a16="http://schemas.microsoft.com/office/drawing/2014/main" id="{DE13CEC3-39BE-4015-821B-35DAA2C8DF96}"/>
              </a:ext>
            </a:extLst>
          </p:cNvPr>
          <p:cNvSpPr>
            <a:spLocks noGrp="1"/>
          </p:cNvSpPr>
          <p:nvPr/>
        </p:nvSpPr>
        <p:spPr>
          <a:xfrm>
            <a:off x="10687050" y="62579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 i="0">
                <a:solidFill>
                  <a:srgbClr val="587287"/>
                </a:solidFill>
              </a:defRPr>
            </a:pPr>
            <a:r>
              <a:rPr sz="1200" b="1" i="0">
                <a:solidFill>
                  <a:srgbClr val="587287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8467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D2FC3-3EFB-EF52-9362-0F11BDAC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2">
            <a:extLst>
              <a:ext uri="{FF2B5EF4-FFF2-40B4-BE49-F238E27FC236}">
                <a16:creationId xmlns:a16="http://schemas.microsoft.com/office/drawing/2014/main" id="{E95C14C5-1C16-76EA-252F-1527F88D0117}"/>
              </a:ext>
            </a:extLst>
          </p:cNvPr>
          <p:cNvSpPr>
            <a:spLocks noGrp="1"/>
          </p:cNvSpPr>
          <p:nvPr/>
        </p:nvSpPr>
        <p:spPr>
          <a:xfrm>
            <a:off x="552450" y="67627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2800" b="1" i="0" dirty="0">
                <a:solidFill>
                  <a:srgbClr val="00669B"/>
                </a:solidFill>
              </a:rPr>
              <a:t>PROBLEMA Y PROPÓSITO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8A3FA765-CFF5-A127-D059-CF5F53EF32B5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endParaRPr sz="2850" b="1" i="0" dirty="0">
              <a:solidFill>
                <a:srgbClr val="123247"/>
              </a:solidFill>
            </a:endParaRP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AD02D672-5FDA-049D-9099-21228C70DFED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2">
            <a:extLst>
              <a:ext uri="{FF2B5EF4-FFF2-40B4-BE49-F238E27FC236}">
                <a16:creationId xmlns:a16="http://schemas.microsoft.com/office/drawing/2014/main" id="{337C6857-1226-E748-2311-F3610C6ECCEF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02</a:t>
            </a:r>
          </a:p>
        </p:txBody>
      </p:sp>
      <p:sp>
        <p:nvSpPr>
          <p:cNvPr id="5" name="problem-statement">
            <a:extLst>
              <a:ext uri="{FF2B5EF4-FFF2-40B4-BE49-F238E27FC236}">
                <a16:creationId xmlns:a16="http://schemas.microsoft.com/office/drawing/2014/main" id="{2365F9BE-E9A6-C363-5209-A6C0820EAD8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6930513" cy="24420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571500" indent="-571500" algn="l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endParaRPr lang="en-US" sz="2800" b="0" i="0" dirty="0"/>
          </a:p>
          <a:p>
            <a:pPr marL="571500" indent="-571500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r>
              <a:rPr lang="es-MX" sz="2800" dirty="0"/>
              <a:t>ADFS registra accesos exitosos, fallidos y bloqueos</a:t>
            </a:r>
          </a:p>
          <a:p>
            <a:pPr marL="571500" indent="-571500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endParaRPr lang="es-MX" sz="2800" dirty="0"/>
          </a:p>
          <a:p>
            <a:pPr marL="571500" indent="-571500" algn="l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r>
              <a:rPr lang="en-US" sz="2800" b="0" i="0" dirty="0"/>
              <a:t>Gran </a:t>
            </a:r>
            <a:r>
              <a:rPr lang="en-US" sz="2800" b="0" i="0" dirty="0" err="1"/>
              <a:t>cantidad</a:t>
            </a:r>
            <a:r>
              <a:rPr lang="en-US" sz="2800" b="0" i="0" dirty="0"/>
              <a:t> de </a:t>
            </a:r>
            <a:r>
              <a:rPr lang="en-US" sz="2800" b="0" i="0" dirty="0" err="1"/>
              <a:t>registros</a:t>
            </a:r>
            <a:r>
              <a:rPr lang="en-US" sz="2800" dirty="0"/>
              <a:t> (revision manual)</a:t>
            </a:r>
          </a:p>
          <a:p>
            <a:pPr algn="l">
              <a:defRPr sz="1650" b="0" i="0">
                <a:solidFill>
                  <a:srgbClr val="587287"/>
                </a:solidFill>
              </a:defRPr>
            </a:pPr>
            <a:endParaRPr lang="en-US" sz="2800" b="0" i="0" dirty="0"/>
          </a:p>
          <a:p>
            <a:pPr marL="571500" indent="-571500" algn="l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r>
              <a:rPr lang="en-US" sz="2800" b="0" i="0" dirty="0" err="1"/>
              <a:t>Transformación</a:t>
            </a:r>
            <a:r>
              <a:rPr lang="en-US" sz="2800" b="0" i="0" dirty="0"/>
              <a:t> de </a:t>
            </a:r>
            <a:r>
              <a:rPr lang="en-US" sz="2800" b="0" i="0" dirty="0" err="1"/>
              <a:t>registros</a:t>
            </a:r>
            <a:r>
              <a:rPr lang="en-US" sz="2800" b="0" i="0" dirty="0"/>
              <a:t> </a:t>
            </a:r>
            <a:r>
              <a:rPr lang="en-US" sz="2800" b="0" i="0" dirty="0" err="1"/>
              <a:t>masivos</a:t>
            </a:r>
            <a:endParaRPr lang="en-US" sz="2800" b="0" i="0" dirty="0"/>
          </a:p>
          <a:p>
            <a:pPr marL="571500" indent="-571500" algn="l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endParaRPr lang="en-US" sz="2800" b="0" i="0" dirty="0"/>
          </a:p>
          <a:p>
            <a:pPr marL="571500" indent="-571500" algn="l">
              <a:buFont typeface="Arial" panose="020B0604020202020204" pitchFamily="34" charset="0"/>
              <a:buChar char="•"/>
              <a:defRPr sz="1650" b="0" i="0">
                <a:solidFill>
                  <a:srgbClr val="587287"/>
                </a:solidFill>
              </a:defRPr>
            </a:pPr>
            <a:r>
              <a:rPr lang="en-US" sz="2800" b="0" i="0" dirty="0"/>
              <a:t>Generacion de </a:t>
            </a:r>
            <a:r>
              <a:rPr lang="en-US" sz="2800" b="0" i="0" dirty="0" err="1"/>
              <a:t>alertas</a:t>
            </a:r>
            <a:r>
              <a:rPr lang="en-US" sz="2800" b="0" i="0" dirty="0"/>
              <a:t> </a:t>
            </a:r>
            <a:r>
              <a:rPr sz="2800" b="0" i="0" dirty="0" err="1"/>
              <a:t>automatiza</a:t>
            </a:r>
            <a:r>
              <a:rPr lang="en-US" sz="2800" b="0" i="0" dirty="0" err="1"/>
              <a:t>da</a:t>
            </a:r>
            <a:r>
              <a:rPr sz="2800" b="0" i="0" dirty="0"/>
              <a:t> </a:t>
            </a:r>
          </a:p>
        </p:txBody>
      </p:sp>
      <p:sp>
        <p:nvSpPr>
          <p:cNvPr id="21" name="footer-n4jvld">
            <a:extLst>
              <a:ext uri="{FF2B5EF4-FFF2-40B4-BE49-F238E27FC236}">
                <a16:creationId xmlns:a16="http://schemas.microsoft.com/office/drawing/2014/main" id="{7F8267F8-9F37-F0BB-93E9-CA8B9A3F801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39707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9E34B-860E-9D14-BDCC-C67C9F23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2">
            <a:extLst>
              <a:ext uri="{FF2B5EF4-FFF2-40B4-BE49-F238E27FC236}">
                <a16:creationId xmlns:a16="http://schemas.microsoft.com/office/drawing/2014/main" id="{F43E3EBC-F03D-BE6C-4C98-C6A76406079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PROBLEMA Y PROPÓSITO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6BD78616-4C71-E6C6-BDCB-2AD016CC39D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7251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3200" b="1" i="0" dirty="0">
                <a:solidFill>
                  <a:srgbClr val="123247"/>
                </a:solidFill>
              </a:rPr>
              <a:t>El </a:t>
            </a:r>
            <a:r>
              <a:rPr sz="3200" b="1" i="0" dirty="0" err="1">
                <a:solidFill>
                  <a:srgbClr val="123247"/>
                </a:solidFill>
              </a:rPr>
              <a:t>reto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convierte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registros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masivos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en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casos</a:t>
            </a:r>
            <a:r>
              <a:rPr sz="3200" b="1" i="0" dirty="0">
                <a:solidFill>
                  <a:srgbClr val="123247"/>
                </a:solidFill>
              </a:rPr>
              <a:t> </a:t>
            </a:r>
            <a:r>
              <a:rPr sz="3200" b="1" i="0" dirty="0" err="1">
                <a:solidFill>
                  <a:srgbClr val="123247"/>
                </a:solidFill>
              </a:rPr>
              <a:t>revisables</a:t>
            </a:r>
            <a:endParaRPr sz="3200" b="1" i="0" dirty="0">
              <a:solidFill>
                <a:srgbClr val="123247"/>
              </a:solidFill>
            </a:endParaRP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E2397D66-2B6E-2C86-EA98-86DB3855F74C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2">
            <a:extLst>
              <a:ext uri="{FF2B5EF4-FFF2-40B4-BE49-F238E27FC236}">
                <a16:creationId xmlns:a16="http://schemas.microsoft.com/office/drawing/2014/main" id="{283DD62B-9F57-800E-1D94-84051E891AF2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02</a:t>
            </a:r>
          </a:p>
        </p:txBody>
      </p:sp>
      <p:sp>
        <p:nvSpPr>
          <p:cNvPr id="6" name="metric-rule-0">
            <a:extLst>
              <a:ext uri="{FF2B5EF4-FFF2-40B4-BE49-F238E27FC236}">
                <a16:creationId xmlns:a16="http://schemas.microsoft.com/office/drawing/2014/main" id="{92922A22-2C60-7EAA-124C-11D0729B2D0C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000250" cy="57150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metric-value-0">
            <a:extLst>
              <a:ext uri="{FF2B5EF4-FFF2-40B4-BE49-F238E27FC236}">
                <a16:creationId xmlns:a16="http://schemas.microsoft.com/office/drawing/2014/main" id="{81822389-FB42-2063-74A6-63FCAF7A1A3A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123247"/>
                </a:solidFill>
              </a:defRPr>
            </a:pPr>
            <a:r>
              <a:rPr sz="3150" b="1" i="0">
                <a:solidFill>
                  <a:srgbClr val="123247"/>
                </a:solidFill>
              </a:rPr>
              <a:t>100.000</a:t>
            </a:r>
          </a:p>
        </p:txBody>
      </p:sp>
      <p:sp>
        <p:nvSpPr>
          <p:cNvPr id="8" name="metric-label-0">
            <a:extLst>
              <a:ext uri="{FF2B5EF4-FFF2-40B4-BE49-F238E27FC236}">
                <a16:creationId xmlns:a16="http://schemas.microsoft.com/office/drawing/2014/main" id="{2A863A82-FA53-A53A-E923-F6B4DEBB2958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registros históricos</a:t>
            </a:r>
          </a:p>
        </p:txBody>
      </p:sp>
      <p:sp>
        <p:nvSpPr>
          <p:cNvPr id="9" name="metric-rule-1">
            <a:extLst>
              <a:ext uri="{FF2B5EF4-FFF2-40B4-BE49-F238E27FC236}">
                <a16:creationId xmlns:a16="http://schemas.microsoft.com/office/drawing/2014/main" id="{05BE72FF-91F4-F303-8A45-347935FC4332}"/>
              </a:ext>
            </a:extLst>
          </p:cNvPr>
          <p:cNvSpPr>
            <a:spLocks noGrp="1"/>
          </p:cNvSpPr>
          <p:nvPr/>
        </p:nvSpPr>
        <p:spPr>
          <a:xfrm>
            <a:off x="3390900" y="2628900"/>
            <a:ext cx="2000250" cy="57150"/>
          </a:xfrm>
          <a:prstGeom prst="rect">
            <a:avLst/>
          </a:prstGeom>
          <a:solidFill>
            <a:srgbClr val="21A366"/>
          </a:solidFill>
          <a:ln w="0">
            <a:solidFill>
              <a:srgbClr val="21A3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metric-value-1">
            <a:extLst>
              <a:ext uri="{FF2B5EF4-FFF2-40B4-BE49-F238E27FC236}">
                <a16:creationId xmlns:a16="http://schemas.microsoft.com/office/drawing/2014/main" id="{809CCDCB-10E6-AAE1-DFBF-422BE93D1A65}"/>
              </a:ext>
            </a:extLst>
          </p:cNvPr>
          <p:cNvSpPr>
            <a:spLocks noGrp="1"/>
          </p:cNvSpPr>
          <p:nvPr/>
        </p:nvSpPr>
        <p:spPr>
          <a:xfrm>
            <a:off x="3390900" y="2876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123247"/>
                </a:solidFill>
              </a:defRPr>
            </a:pPr>
            <a:r>
              <a:rPr sz="3150" b="1" i="0">
                <a:solidFill>
                  <a:srgbClr val="123247"/>
                </a:solidFill>
              </a:rPr>
              <a:t>99.214</a:t>
            </a:r>
          </a:p>
        </p:txBody>
      </p:sp>
      <p:sp>
        <p:nvSpPr>
          <p:cNvPr id="11" name="metric-label-1">
            <a:extLst>
              <a:ext uri="{FF2B5EF4-FFF2-40B4-BE49-F238E27FC236}">
                <a16:creationId xmlns:a16="http://schemas.microsoft.com/office/drawing/2014/main" id="{AB236EB7-5983-D006-5A7B-88F97421CA71}"/>
              </a:ext>
            </a:extLst>
          </p:cNvPr>
          <p:cNvSpPr>
            <a:spLocks noGrp="1"/>
          </p:cNvSpPr>
          <p:nvPr/>
        </p:nvSpPr>
        <p:spPr>
          <a:xfrm>
            <a:off x="3390900" y="35433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eventos válidos</a:t>
            </a:r>
          </a:p>
        </p:txBody>
      </p:sp>
      <p:sp>
        <p:nvSpPr>
          <p:cNvPr id="12" name="metric-rule-2">
            <a:extLst>
              <a:ext uri="{FF2B5EF4-FFF2-40B4-BE49-F238E27FC236}">
                <a16:creationId xmlns:a16="http://schemas.microsoft.com/office/drawing/2014/main" id="{41CB5FA9-764D-65DA-35CA-0306E332AF6C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2000250" cy="57150"/>
          </a:xfrm>
          <a:prstGeom prst="rect">
            <a:avLst/>
          </a:prstGeom>
          <a:solidFill>
            <a:srgbClr val="E5B700"/>
          </a:solidFill>
          <a:ln w="0">
            <a:solidFill>
              <a:srgbClr val="E5B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metric-value-2">
            <a:extLst>
              <a:ext uri="{FF2B5EF4-FFF2-40B4-BE49-F238E27FC236}">
                <a16:creationId xmlns:a16="http://schemas.microsoft.com/office/drawing/2014/main" id="{0C0CB002-4CCE-83D1-1C51-0203D0D88D59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123247"/>
                </a:solidFill>
              </a:defRPr>
            </a:pPr>
            <a:r>
              <a:rPr sz="3150" b="1" i="0">
                <a:solidFill>
                  <a:srgbClr val="123247"/>
                </a:solidFill>
              </a:rPr>
              <a:t>370</a:t>
            </a:r>
          </a:p>
        </p:txBody>
      </p:sp>
      <p:sp>
        <p:nvSpPr>
          <p:cNvPr id="14" name="metric-label-2">
            <a:extLst>
              <a:ext uri="{FF2B5EF4-FFF2-40B4-BE49-F238E27FC236}">
                <a16:creationId xmlns:a16="http://schemas.microsoft.com/office/drawing/2014/main" id="{88C265FD-8AF5-F18E-A78D-90718E09D1AB}"/>
              </a:ext>
            </a:extLst>
          </p:cNvPr>
          <p:cNvSpPr>
            <a:spLocks noGrp="1"/>
          </p:cNvSpPr>
          <p:nvPr/>
        </p:nvSpPr>
        <p:spPr>
          <a:xfrm>
            <a:off x="6172200" y="35433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eventos evaluados</a:t>
            </a:r>
          </a:p>
        </p:txBody>
      </p:sp>
      <p:sp>
        <p:nvSpPr>
          <p:cNvPr id="15" name="metric-rule-3">
            <a:extLst>
              <a:ext uri="{FF2B5EF4-FFF2-40B4-BE49-F238E27FC236}">
                <a16:creationId xmlns:a16="http://schemas.microsoft.com/office/drawing/2014/main" id="{82DAE91E-6E3A-6112-91C5-AA03AC8067A5}"/>
              </a:ext>
            </a:extLst>
          </p:cNvPr>
          <p:cNvSpPr>
            <a:spLocks noGrp="1"/>
          </p:cNvSpPr>
          <p:nvPr/>
        </p:nvSpPr>
        <p:spPr>
          <a:xfrm>
            <a:off x="8953500" y="2628900"/>
            <a:ext cx="2000250" cy="57150"/>
          </a:xfrm>
          <a:prstGeom prst="rect">
            <a:avLst/>
          </a:prstGeom>
          <a:solidFill>
            <a:srgbClr val="D93B4B"/>
          </a:solidFill>
          <a:ln w="0">
            <a:solidFill>
              <a:srgbClr val="D93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metric-value-3">
            <a:extLst>
              <a:ext uri="{FF2B5EF4-FFF2-40B4-BE49-F238E27FC236}">
                <a16:creationId xmlns:a16="http://schemas.microsoft.com/office/drawing/2014/main" id="{1B3E3930-D946-9A7C-EE17-C794C3011975}"/>
              </a:ext>
            </a:extLst>
          </p:cNvPr>
          <p:cNvSpPr>
            <a:spLocks noGrp="1"/>
          </p:cNvSpPr>
          <p:nvPr/>
        </p:nvSpPr>
        <p:spPr>
          <a:xfrm>
            <a:off x="8953500" y="2876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123247"/>
                </a:solidFill>
              </a:defRPr>
            </a:pPr>
            <a:r>
              <a:rPr sz="3150" b="1" i="0">
                <a:solidFill>
                  <a:srgbClr val="123247"/>
                </a:solidFill>
              </a:rPr>
              <a:t>9</a:t>
            </a:r>
          </a:p>
        </p:txBody>
      </p:sp>
      <p:sp>
        <p:nvSpPr>
          <p:cNvPr id="17" name="metric-label-3">
            <a:extLst>
              <a:ext uri="{FF2B5EF4-FFF2-40B4-BE49-F238E27FC236}">
                <a16:creationId xmlns:a16="http://schemas.microsoft.com/office/drawing/2014/main" id="{F4665688-4B77-17BA-270F-E7558EC9A65D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alertas reproducibles</a:t>
            </a:r>
          </a:p>
        </p:txBody>
      </p:sp>
      <p:sp>
        <p:nvSpPr>
          <p:cNvPr id="18" name="result-callout">
            <a:extLst>
              <a:ext uri="{FF2B5EF4-FFF2-40B4-BE49-F238E27FC236}">
                <a16:creationId xmlns:a16="http://schemas.microsoft.com/office/drawing/2014/main" id="{087F99D6-CE73-E87C-4A19-AD9269D93A96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EAF5FA"/>
          </a:solidFill>
          <a:ln w="9525">
            <a:solidFill>
              <a:srgbClr val="EAF5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sult-title">
            <a:extLst>
              <a:ext uri="{FF2B5EF4-FFF2-40B4-BE49-F238E27FC236}">
                <a16:creationId xmlns:a16="http://schemas.microsoft.com/office/drawing/2014/main" id="{1C4B28E6-06C9-5B0A-F408-171E9CD799D8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0669B"/>
                </a:solidFill>
              </a:defRPr>
            </a:pPr>
            <a:r>
              <a:rPr sz="1650" b="1" i="0">
                <a:solidFill>
                  <a:srgbClr val="00669B"/>
                </a:solidFill>
              </a:rPr>
              <a:t>Resultado</a:t>
            </a:r>
          </a:p>
        </p:txBody>
      </p:sp>
      <p:sp>
        <p:nvSpPr>
          <p:cNvPr id="20" name="result-copy">
            <a:extLst>
              <a:ext uri="{FF2B5EF4-FFF2-40B4-BE49-F238E27FC236}">
                <a16:creationId xmlns:a16="http://schemas.microsoft.com/office/drawing/2014/main" id="{DE52C59D-FDB8-0244-949A-69C9E5CF325B}"/>
              </a:ext>
            </a:extLst>
          </p:cNvPr>
          <p:cNvSpPr>
            <a:spLocks noGrp="1"/>
          </p:cNvSpPr>
          <p:nvPr/>
        </p:nvSpPr>
        <p:spPr>
          <a:xfrm>
            <a:off x="876300" y="5114925"/>
            <a:ext cx="962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123247"/>
                </a:solidFill>
              </a:defRPr>
            </a:pPr>
            <a:r>
              <a:rPr sz="1650" b="0" i="0">
                <a:solidFill>
                  <a:srgbClr val="123247"/>
                </a:solidFill>
              </a:rPr>
              <a:t>Los eventos aislados se conservan para el reporte. Solo los patrones correlacionados se convierten en casos para revisión humana.</a:t>
            </a:r>
          </a:p>
        </p:txBody>
      </p:sp>
      <p:sp>
        <p:nvSpPr>
          <p:cNvPr id="21" name="footer-n4jvld">
            <a:extLst>
              <a:ext uri="{FF2B5EF4-FFF2-40B4-BE49-F238E27FC236}">
                <a16:creationId xmlns:a16="http://schemas.microsoft.com/office/drawing/2014/main" id="{F0BCB9CE-AF8F-B2D8-13F1-3B53A000D9FD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153363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yebrow-4">
            <a:extLst>
              <a:ext uri="{FF2B5EF4-FFF2-40B4-BE49-F238E27FC236}">
                <a16:creationId xmlns:a16="http://schemas.microsoft.com/office/drawing/2014/main" id="{17B7F709-C8D1-4306-B543-6408CA847B9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ARQUITECTURA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5D9EBD73-7524-4EB1-BE46-48BB276E661D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Seis etapas separan los datos de la decisión humana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B2BFC98F-D9C4-4ACA-B67E-930F0FDBC424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4">
            <a:extLst>
              <a:ext uri="{FF2B5EF4-FFF2-40B4-BE49-F238E27FC236}">
                <a16:creationId xmlns:a16="http://schemas.microsoft.com/office/drawing/2014/main" id="{82457029-F7C3-48F5-AE05-A87403333D3E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04</a:t>
            </a:r>
          </a:p>
        </p:txBody>
      </p:sp>
      <p:sp>
        <p:nvSpPr>
          <p:cNvPr id="5" name="architecture-node-0">
            <a:extLst>
              <a:ext uri="{FF2B5EF4-FFF2-40B4-BE49-F238E27FC236}">
                <a16:creationId xmlns:a16="http://schemas.microsoft.com/office/drawing/2014/main" id="{5A949389-876E-4144-8674-FF6393F15A81}"/>
              </a:ext>
            </a:extLst>
          </p:cNvPr>
          <p:cNvSpPr>
            <a:spLocks noGrp="1"/>
          </p:cNvSpPr>
          <p:nvPr/>
        </p:nvSpPr>
        <p:spPr>
          <a:xfrm>
            <a:off x="45720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architecture-node-1">
            <a:extLst>
              <a:ext uri="{FF2B5EF4-FFF2-40B4-BE49-F238E27FC236}">
                <a16:creationId xmlns:a16="http://schemas.microsoft.com/office/drawing/2014/main" id="{101D29D6-8B98-4072-BE60-9D98FEAFD5AE}"/>
              </a:ext>
            </a:extLst>
          </p:cNvPr>
          <p:cNvSpPr>
            <a:spLocks noGrp="1"/>
          </p:cNvSpPr>
          <p:nvPr/>
        </p:nvSpPr>
        <p:spPr>
          <a:xfrm>
            <a:off x="238125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architecture-node-2">
            <a:extLst>
              <a:ext uri="{FF2B5EF4-FFF2-40B4-BE49-F238E27FC236}">
                <a16:creationId xmlns:a16="http://schemas.microsoft.com/office/drawing/2014/main" id="{A45F0FE2-DEBC-46B5-9AF2-5B4689ACCC1F}"/>
              </a:ext>
            </a:extLst>
          </p:cNvPr>
          <p:cNvSpPr>
            <a:spLocks noGrp="1"/>
          </p:cNvSpPr>
          <p:nvPr/>
        </p:nvSpPr>
        <p:spPr>
          <a:xfrm>
            <a:off x="430530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architecture-node-3">
            <a:extLst>
              <a:ext uri="{FF2B5EF4-FFF2-40B4-BE49-F238E27FC236}">
                <a16:creationId xmlns:a16="http://schemas.microsoft.com/office/drawing/2014/main" id="{2F1939C5-C2BD-4417-97CF-35785D939353}"/>
              </a:ext>
            </a:extLst>
          </p:cNvPr>
          <p:cNvSpPr>
            <a:spLocks noGrp="1"/>
          </p:cNvSpPr>
          <p:nvPr/>
        </p:nvSpPr>
        <p:spPr>
          <a:xfrm>
            <a:off x="622935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architecture-node-4">
            <a:extLst>
              <a:ext uri="{FF2B5EF4-FFF2-40B4-BE49-F238E27FC236}">
                <a16:creationId xmlns:a16="http://schemas.microsoft.com/office/drawing/2014/main" id="{EC5F4EBE-2125-4AA7-8543-52F4810696EA}"/>
              </a:ext>
            </a:extLst>
          </p:cNvPr>
          <p:cNvSpPr>
            <a:spLocks noGrp="1"/>
          </p:cNvSpPr>
          <p:nvPr/>
        </p:nvSpPr>
        <p:spPr>
          <a:xfrm>
            <a:off x="815340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architecture-node-5">
            <a:extLst>
              <a:ext uri="{FF2B5EF4-FFF2-40B4-BE49-F238E27FC236}">
                <a16:creationId xmlns:a16="http://schemas.microsoft.com/office/drawing/2014/main" id="{EE5B0A23-EA96-49A3-97EC-2BB13378105A}"/>
              </a:ext>
            </a:extLst>
          </p:cNvPr>
          <p:cNvSpPr>
            <a:spLocks noGrp="1"/>
          </p:cNvSpPr>
          <p:nvPr/>
        </p:nvSpPr>
        <p:spPr>
          <a:xfrm>
            <a:off x="10077450" y="2590800"/>
            <a:ext cx="1600200" cy="1371600"/>
          </a:xfrm>
          <a:prstGeom prst="roundRect">
            <a:avLst>
              <a:gd name="adj" fmla="val 8333"/>
            </a:avLst>
          </a:prstGeom>
          <a:solidFill>
            <a:srgbClr val="EAF5FA"/>
          </a:solidFill>
          <a:ln w="9525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cxnSp>
        <p:nvCxnSpPr>
          <p:cNvPr id="46" name="Conector recto de flecha 45"/>
          <p:cNvCxnSpPr>
            <a:stCxn id="5" idx="3"/>
            <a:endCxn id="6" idx="1"/>
          </p:cNvCxnSpPr>
          <p:nvPr/>
        </p:nvCxnSpPr>
        <p:spPr>
          <a:xfrm>
            <a:off x="2057400" y="3276600"/>
            <a:ext cx="3238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47" name="Conector recto de flecha 46"/>
          <p:cNvCxnSpPr>
            <a:stCxn id="6" idx="3"/>
            <a:endCxn id="7" idx="1"/>
          </p:cNvCxnSpPr>
          <p:nvPr/>
        </p:nvCxnSpPr>
        <p:spPr>
          <a:xfrm>
            <a:off x="3981450" y="3276600"/>
            <a:ext cx="3238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48" name="Conector recto de flecha 47"/>
          <p:cNvCxnSpPr>
            <a:stCxn id="7" idx="3"/>
            <a:endCxn id="8" idx="1"/>
          </p:cNvCxnSpPr>
          <p:nvPr/>
        </p:nvCxnSpPr>
        <p:spPr>
          <a:xfrm>
            <a:off x="5905500" y="3276600"/>
            <a:ext cx="3238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49" name="Conector recto de flecha 48"/>
          <p:cNvCxnSpPr>
            <a:stCxn id="8" idx="3"/>
            <a:endCxn id="9" idx="1"/>
          </p:cNvCxnSpPr>
          <p:nvPr/>
        </p:nvCxnSpPr>
        <p:spPr>
          <a:xfrm>
            <a:off x="7829550" y="3276600"/>
            <a:ext cx="3238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50" name="Conector recto de flecha 49"/>
          <p:cNvCxnSpPr>
            <a:stCxn id="9" idx="3"/>
            <a:endCxn id="10" idx="1"/>
          </p:cNvCxnSpPr>
          <p:nvPr/>
        </p:nvCxnSpPr>
        <p:spPr>
          <a:xfrm>
            <a:off x="9753600" y="3276600"/>
            <a:ext cx="3238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sp>
        <p:nvSpPr>
          <p:cNvPr id="16" name="architecture-index-0">
            <a:extLst>
              <a:ext uri="{FF2B5EF4-FFF2-40B4-BE49-F238E27FC236}">
                <a16:creationId xmlns:a16="http://schemas.microsoft.com/office/drawing/2014/main" id="{19140085-F993-407A-A656-96B9FD7DE828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01</a:t>
            </a:r>
          </a:p>
        </p:txBody>
      </p:sp>
      <p:sp>
        <p:nvSpPr>
          <p:cNvPr id="17" name="architecture-title-0">
            <a:extLst>
              <a:ext uri="{FF2B5EF4-FFF2-40B4-BE49-F238E27FC236}">
                <a16:creationId xmlns:a16="http://schemas.microsoft.com/office/drawing/2014/main" id="{B955F484-CC13-4908-A92D-8E8B29A9A040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Fuentes</a:t>
            </a:r>
          </a:p>
        </p:txBody>
      </p:sp>
      <p:sp>
        <p:nvSpPr>
          <p:cNvPr id="18" name="architecture-desc-0">
            <a:extLst>
              <a:ext uri="{FF2B5EF4-FFF2-40B4-BE49-F238E27FC236}">
                <a16:creationId xmlns:a16="http://schemas.microsoft.com/office/drawing/2014/main" id="{CF9FAF5F-212C-4BFF-949E-8EDC38FC54D3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CSV / PostgreSQL</a:t>
            </a:r>
          </a:p>
        </p:txBody>
      </p:sp>
      <p:sp>
        <p:nvSpPr>
          <p:cNvPr id="19" name="architecture-index-1">
            <a:extLst>
              <a:ext uri="{FF2B5EF4-FFF2-40B4-BE49-F238E27FC236}">
                <a16:creationId xmlns:a16="http://schemas.microsoft.com/office/drawing/2014/main" id="{CCF7E198-1FCD-4CB3-947E-32E57BD5472B}"/>
              </a:ext>
            </a:extLst>
          </p:cNvPr>
          <p:cNvSpPr>
            <a:spLocks noGrp="1"/>
          </p:cNvSpPr>
          <p:nvPr/>
        </p:nvSpPr>
        <p:spPr>
          <a:xfrm>
            <a:off x="255270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02</a:t>
            </a:r>
          </a:p>
        </p:txBody>
      </p:sp>
      <p:sp>
        <p:nvSpPr>
          <p:cNvPr id="20" name="architecture-title-1">
            <a:extLst>
              <a:ext uri="{FF2B5EF4-FFF2-40B4-BE49-F238E27FC236}">
                <a16:creationId xmlns:a16="http://schemas.microsoft.com/office/drawing/2014/main" id="{FCF9A78B-5E31-4409-9A5D-5B6E9AAD820F}"/>
              </a:ext>
            </a:extLst>
          </p:cNvPr>
          <p:cNvSpPr>
            <a:spLocks noGrp="1"/>
          </p:cNvSpPr>
          <p:nvPr/>
        </p:nvSpPr>
        <p:spPr>
          <a:xfrm>
            <a:off x="255270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Normalización</a:t>
            </a:r>
          </a:p>
        </p:txBody>
      </p:sp>
      <p:sp>
        <p:nvSpPr>
          <p:cNvPr id="21" name="architecture-desc-1">
            <a:extLst>
              <a:ext uri="{FF2B5EF4-FFF2-40B4-BE49-F238E27FC236}">
                <a16:creationId xmlns:a16="http://schemas.microsoft.com/office/drawing/2014/main" id="{957AD520-3115-421D-8059-9703FE230D53}"/>
              </a:ext>
            </a:extLst>
          </p:cNvPr>
          <p:cNvSpPr>
            <a:spLocks noGrp="1"/>
          </p:cNvSpPr>
          <p:nvPr/>
        </p:nvSpPr>
        <p:spPr>
          <a:xfrm>
            <a:off x="249555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calidad + HMAC</a:t>
            </a:r>
          </a:p>
        </p:txBody>
      </p:sp>
      <p:sp>
        <p:nvSpPr>
          <p:cNvPr id="22" name="architecture-index-2">
            <a:extLst>
              <a:ext uri="{FF2B5EF4-FFF2-40B4-BE49-F238E27FC236}">
                <a16:creationId xmlns:a16="http://schemas.microsoft.com/office/drawing/2014/main" id="{6B2FB4EA-66B8-4597-BD52-C589C8BE2B1B}"/>
              </a:ext>
            </a:extLst>
          </p:cNvPr>
          <p:cNvSpPr>
            <a:spLocks noGrp="1"/>
          </p:cNvSpPr>
          <p:nvPr/>
        </p:nvSpPr>
        <p:spPr>
          <a:xfrm>
            <a:off x="447675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03</a:t>
            </a:r>
          </a:p>
        </p:txBody>
      </p:sp>
      <p:sp>
        <p:nvSpPr>
          <p:cNvPr id="23" name="architecture-title-2">
            <a:extLst>
              <a:ext uri="{FF2B5EF4-FFF2-40B4-BE49-F238E27FC236}">
                <a16:creationId xmlns:a16="http://schemas.microsoft.com/office/drawing/2014/main" id="{501D52EE-8F7B-4562-98B2-4E6B53E36B2A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Línea base</a:t>
            </a:r>
          </a:p>
        </p:txBody>
      </p:sp>
      <p:sp>
        <p:nvSpPr>
          <p:cNvPr id="24" name="architecture-desc-2">
            <a:extLst>
              <a:ext uri="{FF2B5EF4-FFF2-40B4-BE49-F238E27FC236}">
                <a16:creationId xmlns:a16="http://schemas.microsoft.com/office/drawing/2014/main" id="{749C2AF2-DEB1-40C7-A58A-774DBADAA564}"/>
              </a:ext>
            </a:extLst>
          </p:cNvPr>
          <p:cNvSpPr>
            <a:spLocks noGrp="1"/>
          </p:cNvSpPr>
          <p:nvPr/>
        </p:nvSpPr>
        <p:spPr>
          <a:xfrm>
            <a:off x="441960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comportamiento habitual</a:t>
            </a:r>
          </a:p>
        </p:txBody>
      </p:sp>
      <p:sp>
        <p:nvSpPr>
          <p:cNvPr id="25" name="architecture-index-3">
            <a:extLst>
              <a:ext uri="{FF2B5EF4-FFF2-40B4-BE49-F238E27FC236}">
                <a16:creationId xmlns:a16="http://schemas.microsoft.com/office/drawing/2014/main" id="{EBD7FB18-49DD-476D-A927-B98BDCEEBAB8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04</a:t>
            </a:r>
          </a:p>
        </p:txBody>
      </p:sp>
      <p:sp>
        <p:nvSpPr>
          <p:cNvPr id="26" name="architecture-title-3">
            <a:extLst>
              <a:ext uri="{FF2B5EF4-FFF2-40B4-BE49-F238E27FC236}">
                <a16:creationId xmlns:a16="http://schemas.microsoft.com/office/drawing/2014/main" id="{BD155893-B7B9-42E6-AC05-87A64FF14687}"/>
              </a:ext>
            </a:extLst>
          </p:cNvPr>
          <p:cNvSpPr>
            <a:spLocks noGrp="1"/>
          </p:cNvSpPr>
          <p:nvPr/>
        </p:nvSpPr>
        <p:spPr>
          <a:xfrm>
            <a:off x="640080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Detección</a:t>
            </a:r>
          </a:p>
        </p:txBody>
      </p:sp>
      <p:sp>
        <p:nvSpPr>
          <p:cNvPr id="27" name="architecture-desc-3">
            <a:extLst>
              <a:ext uri="{FF2B5EF4-FFF2-40B4-BE49-F238E27FC236}">
                <a16:creationId xmlns:a16="http://schemas.microsoft.com/office/drawing/2014/main" id="{1D83028D-A1D3-443E-8F99-A29D3878EC12}"/>
              </a:ext>
            </a:extLst>
          </p:cNvPr>
          <p:cNvSpPr>
            <a:spLocks noGrp="1"/>
          </p:cNvSpPr>
          <p:nvPr/>
        </p:nvSpPr>
        <p:spPr>
          <a:xfrm>
            <a:off x="634365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ventanas + reglas</a:t>
            </a:r>
          </a:p>
        </p:txBody>
      </p:sp>
      <p:sp>
        <p:nvSpPr>
          <p:cNvPr id="28" name="architecture-index-4">
            <a:extLst>
              <a:ext uri="{FF2B5EF4-FFF2-40B4-BE49-F238E27FC236}">
                <a16:creationId xmlns:a16="http://schemas.microsoft.com/office/drawing/2014/main" id="{70CE388F-6BE1-4DA8-A344-2837D4A25D88}"/>
              </a:ext>
            </a:extLst>
          </p:cNvPr>
          <p:cNvSpPr>
            <a:spLocks noGrp="1"/>
          </p:cNvSpPr>
          <p:nvPr/>
        </p:nvSpPr>
        <p:spPr>
          <a:xfrm>
            <a:off x="832485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05</a:t>
            </a:r>
          </a:p>
        </p:txBody>
      </p:sp>
      <p:sp>
        <p:nvSpPr>
          <p:cNvPr id="29" name="architecture-title-4">
            <a:extLst>
              <a:ext uri="{FF2B5EF4-FFF2-40B4-BE49-F238E27FC236}">
                <a16:creationId xmlns:a16="http://schemas.microsoft.com/office/drawing/2014/main" id="{27A1EAB7-BEF7-410D-B1C1-96135D30C15A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Persistencia</a:t>
            </a:r>
          </a:p>
        </p:txBody>
      </p:sp>
      <p:sp>
        <p:nvSpPr>
          <p:cNvPr id="30" name="architecture-desc-4">
            <a:extLst>
              <a:ext uri="{FF2B5EF4-FFF2-40B4-BE49-F238E27FC236}">
                <a16:creationId xmlns:a16="http://schemas.microsoft.com/office/drawing/2014/main" id="{565DA134-A347-4387-8CCD-53D40D720BE5}"/>
              </a:ext>
            </a:extLst>
          </p:cNvPr>
          <p:cNvSpPr>
            <a:spLocks noGrp="1"/>
          </p:cNvSpPr>
          <p:nvPr/>
        </p:nvSpPr>
        <p:spPr>
          <a:xfrm>
            <a:off x="826770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lang="en-US" sz="1200" b="0" i="0" dirty="0">
                <a:solidFill>
                  <a:srgbClr val="587287"/>
                </a:solidFill>
              </a:rPr>
              <a:t>DB</a:t>
            </a:r>
            <a:r>
              <a:rPr sz="1200" b="0" i="0" dirty="0">
                <a:solidFill>
                  <a:srgbClr val="587287"/>
                </a:solidFill>
              </a:rPr>
              <a:t> + cooldown</a:t>
            </a:r>
          </a:p>
        </p:txBody>
      </p:sp>
      <p:sp>
        <p:nvSpPr>
          <p:cNvPr id="31" name="architecture-index-5">
            <a:extLst>
              <a:ext uri="{FF2B5EF4-FFF2-40B4-BE49-F238E27FC236}">
                <a16:creationId xmlns:a16="http://schemas.microsoft.com/office/drawing/2014/main" id="{070BC98E-9724-43A8-9F06-99A6123AB612}"/>
              </a:ext>
            </a:extLst>
          </p:cNvPr>
          <p:cNvSpPr>
            <a:spLocks noGrp="1"/>
          </p:cNvSpPr>
          <p:nvPr/>
        </p:nvSpPr>
        <p:spPr>
          <a:xfrm>
            <a:off x="10248900" y="2762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F47A20"/>
                </a:solidFill>
              </a:defRPr>
            </a:pPr>
            <a:r>
              <a:rPr sz="1200" b="1" i="0">
                <a:solidFill>
                  <a:srgbClr val="F47A20"/>
                </a:solidFill>
              </a:rPr>
              <a:t>06</a:t>
            </a:r>
          </a:p>
        </p:txBody>
      </p:sp>
      <p:sp>
        <p:nvSpPr>
          <p:cNvPr id="32" name="architecture-title-5">
            <a:extLst>
              <a:ext uri="{FF2B5EF4-FFF2-40B4-BE49-F238E27FC236}">
                <a16:creationId xmlns:a16="http://schemas.microsoft.com/office/drawing/2014/main" id="{985BB20E-7F09-4BF9-A4F6-DA8956D0CCA4}"/>
              </a:ext>
            </a:extLst>
          </p:cNvPr>
          <p:cNvSpPr>
            <a:spLocks noGrp="1"/>
          </p:cNvSpPr>
          <p:nvPr/>
        </p:nvSpPr>
        <p:spPr>
          <a:xfrm>
            <a:off x="10248900" y="3105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23247"/>
                </a:solidFill>
              </a:defRPr>
            </a:pPr>
            <a:r>
              <a:rPr sz="1500" b="1" i="0">
                <a:solidFill>
                  <a:srgbClr val="123247"/>
                </a:solidFill>
              </a:rPr>
              <a:t>Revisión</a:t>
            </a:r>
          </a:p>
        </p:txBody>
      </p:sp>
      <p:sp>
        <p:nvSpPr>
          <p:cNvPr id="33" name="architecture-desc-5">
            <a:extLst>
              <a:ext uri="{FF2B5EF4-FFF2-40B4-BE49-F238E27FC236}">
                <a16:creationId xmlns:a16="http://schemas.microsoft.com/office/drawing/2014/main" id="{8859F952-39FA-4A9F-BBBD-1AF684D86252}"/>
              </a:ext>
            </a:extLst>
          </p:cNvPr>
          <p:cNvSpPr>
            <a:spLocks noGrp="1"/>
          </p:cNvSpPr>
          <p:nvPr/>
        </p:nvSpPr>
        <p:spPr>
          <a:xfrm>
            <a:off x="10191750" y="34861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bandeja + reporte</a:t>
            </a:r>
          </a:p>
        </p:txBody>
      </p:sp>
      <p:sp>
        <p:nvSpPr>
          <p:cNvPr id="34" name="architecture-claim">
            <a:extLst>
              <a:ext uri="{FF2B5EF4-FFF2-40B4-BE49-F238E27FC236}">
                <a16:creationId xmlns:a16="http://schemas.microsoft.com/office/drawing/2014/main" id="{4A5F23BF-E918-40AE-A54D-8A3330F48853}"/>
              </a:ext>
            </a:extLst>
          </p:cNvPr>
          <p:cNvSpPr>
            <a:spLocks noGrp="1"/>
          </p:cNvSpPr>
          <p:nvPr/>
        </p:nvSpPr>
        <p:spPr>
          <a:xfrm>
            <a:off x="1238250" y="4686300"/>
            <a:ext cx="971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 i="0">
                <a:solidFill>
                  <a:srgbClr val="00669B"/>
                </a:solidFill>
              </a:defRPr>
            </a:pPr>
            <a:r>
              <a:rPr sz="1725" b="1" i="0">
                <a:solidFill>
                  <a:srgbClr val="00669B"/>
                </a:solidFill>
              </a:rPr>
              <a:t>Cada módulo tiene una responsabilidad: las rutas web no contienen SQL y el detector no conoce la interfaz.</a:t>
            </a:r>
          </a:p>
        </p:txBody>
      </p:sp>
      <p:sp>
        <p:nvSpPr>
          <p:cNvPr id="35" name="footer-v9ia3e">
            <a:extLst>
              <a:ext uri="{FF2B5EF4-FFF2-40B4-BE49-F238E27FC236}">
                <a16:creationId xmlns:a16="http://schemas.microsoft.com/office/drawing/2014/main" id="{86B05901-B975-4D20-8C50-8E51394033D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79042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-5">
            <a:extLst>
              <a:ext uri="{FF2B5EF4-FFF2-40B4-BE49-F238E27FC236}">
                <a16:creationId xmlns:a16="http://schemas.microsoft.com/office/drawing/2014/main" id="{59E65B1B-D98D-482C-80A5-1B086FAD581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INGESTA Y NORMALIZACIÓN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5F2AC9CC-6CC7-42BE-AB3A-ECE9635CDD57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La ingesta protege la fuente y estandariza cada evento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875CE4D1-07C8-45BF-AF86-5D6846D0FAC8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5">
            <a:extLst>
              <a:ext uri="{FF2B5EF4-FFF2-40B4-BE49-F238E27FC236}">
                <a16:creationId xmlns:a16="http://schemas.microsoft.com/office/drawing/2014/main" id="{3261ACEC-8C88-4A23-A406-EDBDB0549C2F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05</a:t>
            </a:r>
          </a:p>
        </p:txBody>
      </p:sp>
      <p:sp>
        <p:nvSpPr>
          <p:cNvPr id="5" name="ingestion-paths">
            <a:extLst>
              <a:ext uri="{FF2B5EF4-FFF2-40B4-BE49-F238E27FC236}">
                <a16:creationId xmlns:a16="http://schemas.microsoft.com/office/drawing/2014/main" id="{15039D70-F85E-42FF-8F31-D3E2F04FE74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0669B"/>
                </a:solidFill>
              </a:defRPr>
            </a:pPr>
            <a:r>
              <a:rPr sz="1500" b="1" i="0">
                <a:solidFill>
                  <a:srgbClr val="00669B"/>
                </a:solidFill>
              </a:rPr>
              <a:t>src/event_source.py   →   src/normalize_events.py</a:t>
            </a:r>
          </a:p>
        </p:txBody>
      </p:sp>
      <p:sp>
        <p:nvSpPr>
          <p:cNvPr id="6" name="bullet-dot-fmac7a-0">
            <a:extLst>
              <a:ext uri="{FF2B5EF4-FFF2-40B4-BE49-F238E27FC236}">
                <a16:creationId xmlns:a16="http://schemas.microsoft.com/office/drawing/2014/main" id="{A2D73760-0420-48BE-8572-F03DD3B3BAE2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bullet-fmac7a-0">
            <a:extLst>
              <a:ext uri="{FF2B5EF4-FFF2-40B4-BE49-F238E27FC236}">
                <a16:creationId xmlns:a16="http://schemas.microsoft.com/office/drawing/2014/main" id="{4F922128-C16C-4E32-BA38-A8BF48D003DD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6534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123247"/>
                </a:solidFill>
              </a:defRPr>
            </a:pPr>
            <a:r>
              <a:rPr sz="1425" b="0" i="0" dirty="0">
                <a:solidFill>
                  <a:srgbClr val="123247"/>
                </a:solidFill>
              </a:rPr>
              <a:t>PostgreSQL se consulta </a:t>
            </a:r>
            <a:r>
              <a:rPr sz="1425" b="0" i="0" dirty="0" err="1">
                <a:solidFill>
                  <a:srgbClr val="123247"/>
                </a:solidFill>
              </a:rPr>
              <a:t>en</a:t>
            </a:r>
            <a:r>
              <a:rPr sz="1425" b="0" i="0" dirty="0">
                <a:solidFill>
                  <a:srgbClr val="123247"/>
                </a:solidFill>
              </a:rPr>
              <a:t> modo READ ONLY y solo </a:t>
            </a:r>
            <a:r>
              <a:rPr sz="1425" b="0" i="0" dirty="0" err="1">
                <a:solidFill>
                  <a:srgbClr val="123247"/>
                </a:solidFill>
              </a:rPr>
              <a:t>trae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eventos</a:t>
            </a:r>
            <a:r>
              <a:rPr sz="1425" b="0" i="0" dirty="0">
                <a:solidFill>
                  <a:srgbClr val="123247"/>
                </a:solidFill>
              </a:rPr>
              <a:t> posteriores al checkpoint.</a:t>
            </a:r>
          </a:p>
        </p:txBody>
      </p:sp>
      <p:sp>
        <p:nvSpPr>
          <p:cNvPr id="10" name="bullet-dot-fmac7a-2">
            <a:extLst>
              <a:ext uri="{FF2B5EF4-FFF2-40B4-BE49-F238E27FC236}">
                <a16:creationId xmlns:a16="http://schemas.microsoft.com/office/drawing/2014/main" id="{78814A01-3DF7-486F-A2AC-60BBF804E32E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bullet-fmac7a-2">
            <a:extLst>
              <a:ext uri="{FF2B5EF4-FFF2-40B4-BE49-F238E27FC236}">
                <a16:creationId xmlns:a16="http://schemas.microsoft.com/office/drawing/2014/main" id="{79CF43F0-F8C4-4D9D-BFE1-01752847AE59}"/>
              </a:ext>
            </a:extLst>
          </p:cNvPr>
          <p:cNvSpPr>
            <a:spLocks noGrp="1"/>
          </p:cNvSpPr>
          <p:nvPr/>
        </p:nvSpPr>
        <p:spPr>
          <a:xfrm>
            <a:off x="895350" y="2952750"/>
            <a:ext cx="6534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123247"/>
                </a:solidFill>
              </a:defRPr>
            </a:pPr>
            <a:r>
              <a:rPr sz="1425" b="0" i="0" dirty="0" err="1">
                <a:solidFill>
                  <a:srgbClr val="123247"/>
                </a:solidFill>
              </a:rPr>
              <a:t>Usuarios</a:t>
            </a:r>
            <a:r>
              <a:rPr sz="1425" b="0" i="0" dirty="0">
                <a:solidFill>
                  <a:srgbClr val="123247"/>
                </a:solidFill>
              </a:rPr>
              <a:t> e IP se </a:t>
            </a:r>
            <a:r>
              <a:rPr sz="1425" b="0" i="0" dirty="0" err="1">
                <a:solidFill>
                  <a:srgbClr val="123247"/>
                </a:solidFill>
              </a:rPr>
              <a:t>reemplazan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por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pseudónimos</a:t>
            </a:r>
            <a:r>
              <a:rPr sz="1425" b="0" i="0" dirty="0">
                <a:solidFill>
                  <a:srgbClr val="123247"/>
                </a:solidFill>
              </a:rPr>
              <a:t> HMAC-SHA256 .</a:t>
            </a:r>
          </a:p>
        </p:txBody>
      </p:sp>
      <p:sp>
        <p:nvSpPr>
          <p:cNvPr id="12" name="bullet-dot-fmac7a-3">
            <a:extLst>
              <a:ext uri="{FF2B5EF4-FFF2-40B4-BE49-F238E27FC236}">
                <a16:creationId xmlns:a16="http://schemas.microsoft.com/office/drawing/2014/main" id="{1FF15938-DBB1-42AB-B7ED-7EDEF405B56C}"/>
              </a:ext>
            </a:extLst>
          </p:cNvPr>
          <p:cNvSpPr>
            <a:spLocks noGrp="1"/>
          </p:cNvSpPr>
          <p:nvPr/>
        </p:nvSpPr>
        <p:spPr>
          <a:xfrm>
            <a:off x="666750" y="3903406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bullet-fmac7a-3">
            <a:extLst>
              <a:ext uri="{FF2B5EF4-FFF2-40B4-BE49-F238E27FC236}">
                <a16:creationId xmlns:a16="http://schemas.microsoft.com/office/drawing/2014/main" id="{2FEA2BAF-F9E5-4295-B831-CCA75FFA1A5A}"/>
              </a:ext>
            </a:extLst>
          </p:cNvPr>
          <p:cNvSpPr>
            <a:spLocks noGrp="1"/>
          </p:cNvSpPr>
          <p:nvPr/>
        </p:nvSpPr>
        <p:spPr>
          <a:xfrm>
            <a:off x="895350" y="3827206"/>
            <a:ext cx="6534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123247"/>
                </a:solidFill>
              </a:defRPr>
            </a:pPr>
            <a:r>
              <a:rPr sz="1425" b="0" i="0" dirty="0" err="1">
                <a:solidFill>
                  <a:srgbClr val="123247"/>
                </a:solidFill>
              </a:rPr>
              <a:t>Duplicados</a:t>
            </a:r>
            <a:r>
              <a:rPr sz="1425" b="0" i="0" dirty="0">
                <a:solidFill>
                  <a:srgbClr val="123247"/>
                </a:solidFill>
              </a:rPr>
              <a:t> e </a:t>
            </a:r>
            <a:r>
              <a:rPr sz="1425" b="0" i="0" dirty="0" err="1">
                <a:solidFill>
                  <a:srgbClr val="123247"/>
                </a:solidFill>
              </a:rPr>
              <a:t>inconsistencias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quedan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identificados</a:t>
            </a:r>
            <a:r>
              <a:rPr sz="1425" b="0" i="0" dirty="0">
                <a:solidFill>
                  <a:srgbClr val="123247"/>
                </a:solidFill>
              </a:rPr>
              <a:t> sin </a:t>
            </a:r>
            <a:r>
              <a:rPr sz="1425" b="0" i="0" dirty="0" err="1">
                <a:solidFill>
                  <a:srgbClr val="123247"/>
                </a:solidFill>
              </a:rPr>
              <a:t>modificar</a:t>
            </a:r>
            <a:r>
              <a:rPr sz="1425" b="0" i="0" dirty="0">
                <a:solidFill>
                  <a:srgbClr val="123247"/>
                </a:solidFill>
              </a:rPr>
              <a:t> </a:t>
            </a:r>
            <a:r>
              <a:rPr sz="1425" b="0" i="0" dirty="0" err="1">
                <a:solidFill>
                  <a:srgbClr val="123247"/>
                </a:solidFill>
              </a:rPr>
              <a:t>el</a:t>
            </a:r>
            <a:r>
              <a:rPr sz="1425" b="0" i="0" dirty="0">
                <a:solidFill>
                  <a:srgbClr val="123247"/>
                </a:solidFill>
              </a:rPr>
              <a:t> CSV original.</a:t>
            </a:r>
          </a:p>
        </p:txBody>
      </p:sp>
      <p:sp>
        <p:nvSpPr>
          <p:cNvPr id="14" name="ingestion-output">
            <a:extLst>
              <a:ext uri="{FF2B5EF4-FFF2-40B4-BE49-F238E27FC236}">
                <a16:creationId xmlns:a16="http://schemas.microsoft.com/office/drawing/2014/main" id="{D730FC22-9739-4ED2-A699-CB3152EE8F3E}"/>
              </a:ext>
            </a:extLst>
          </p:cNvPr>
          <p:cNvSpPr>
            <a:spLocks noGrp="1"/>
          </p:cNvSpPr>
          <p:nvPr/>
        </p:nvSpPr>
        <p:spPr>
          <a:xfrm>
            <a:off x="8748866" y="1866900"/>
            <a:ext cx="3371850" cy="3543300"/>
          </a:xfrm>
          <a:prstGeom prst="roundRect">
            <a:avLst>
              <a:gd name="adj" fmla="val 3390"/>
            </a:avLst>
          </a:prstGeom>
          <a:solidFill>
            <a:srgbClr val="F6FAFC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footer-fmac7a">
            <a:extLst>
              <a:ext uri="{FF2B5EF4-FFF2-40B4-BE49-F238E27FC236}">
                <a16:creationId xmlns:a16="http://schemas.microsoft.com/office/drawing/2014/main" id="{1E669B22-6A4A-49EB-B1AE-F4AE77054709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33535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6">
            <a:extLst>
              <a:ext uri="{FF2B5EF4-FFF2-40B4-BE49-F238E27FC236}">
                <a16:creationId xmlns:a16="http://schemas.microsoft.com/office/drawing/2014/main" id="{0576B848-D0E0-4AEB-AFD9-B3A31D5DD79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COMPORTAMIENTO HABITUAL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6E240F55-7406-4157-AD51-736E22009C73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La línea base evita comparar un usuario contra información futura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C6AB0594-8AAD-49DD-8EEF-6FE51D6739E8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6">
            <a:extLst>
              <a:ext uri="{FF2B5EF4-FFF2-40B4-BE49-F238E27FC236}">
                <a16:creationId xmlns:a16="http://schemas.microsoft.com/office/drawing/2014/main" id="{27151E38-19DE-4EF4-A2D3-AE78DC91E63C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06</a:t>
            </a:r>
          </a:p>
        </p:txBody>
      </p:sp>
      <p:sp>
        <p:nvSpPr>
          <p:cNvPr id="5" name="baseline-path">
            <a:extLst>
              <a:ext uri="{FF2B5EF4-FFF2-40B4-BE49-F238E27FC236}">
                <a16:creationId xmlns:a16="http://schemas.microsoft.com/office/drawing/2014/main" id="{6B5BD67F-EC69-41BF-B1AE-ABC2785B09C4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0669B"/>
                </a:solidFill>
              </a:defRPr>
            </a:pPr>
            <a:r>
              <a:rPr sz="1500" b="1" i="0">
                <a:solidFill>
                  <a:srgbClr val="00669B"/>
                </a:solidFill>
              </a:rPr>
              <a:t>src/build_baseline.py   +   config/baseline.json</a:t>
            </a:r>
          </a:p>
        </p:txBody>
      </p:sp>
      <p:sp>
        <p:nvSpPr>
          <p:cNvPr id="12" name="baseline-divider">
            <a:extLst>
              <a:ext uri="{FF2B5EF4-FFF2-40B4-BE49-F238E27FC236}">
                <a16:creationId xmlns:a16="http://schemas.microsoft.com/office/drawing/2014/main" id="{A738A8B8-99B3-49AC-B824-97C70DC3BD99}"/>
              </a:ext>
            </a:extLst>
          </p:cNvPr>
          <p:cNvSpPr>
            <a:spLocks noGrp="1"/>
          </p:cNvSpPr>
          <p:nvPr/>
        </p:nvSpPr>
        <p:spPr>
          <a:xfrm>
            <a:off x="4095750" y="1981200"/>
            <a:ext cx="28575" cy="37147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baseline-question">
            <a:extLst>
              <a:ext uri="{FF2B5EF4-FFF2-40B4-BE49-F238E27FC236}">
                <a16:creationId xmlns:a16="http://schemas.microsoft.com/office/drawing/2014/main" id="{61709FD1-A3ED-4C27-B974-88F7F7209205}"/>
              </a:ext>
            </a:extLst>
          </p:cNvPr>
          <p:cNvSpPr>
            <a:spLocks noGrp="1"/>
          </p:cNvSpPr>
          <p:nvPr/>
        </p:nvSpPr>
        <p:spPr>
          <a:xfrm>
            <a:off x="419715" y="21907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23247"/>
                </a:solidFill>
              </a:defRPr>
            </a:pPr>
            <a:r>
              <a:rPr sz="1875" b="1" i="0">
                <a:solidFill>
                  <a:srgbClr val="123247"/>
                </a:solidFill>
              </a:rPr>
              <a:t>¿Qué aprende el sistema?</a:t>
            </a:r>
          </a:p>
        </p:txBody>
      </p:sp>
      <p:sp>
        <p:nvSpPr>
          <p:cNvPr id="14" name="bullet-dot-b6q67y-0">
            <a:extLst>
              <a:ext uri="{FF2B5EF4-FFF2-40B4-BE49-F238E27FC236}">
                <a16:creationId xmlns:a16="http://schemas.microsoft.com/office/drawing/2014/main" id="{C6BC045A-8339-45E6-87F9-EA209B84BBA2}"/>
              </a:ext>
            </a:extLst>
          </p:cNvPr>
          <p:cNvSpPr>
            <a:spLocks noGrp="1"/>
          </p:cNvSpPr>
          <p:nvPr/>
        </p:nvSpPr>
        <p:spPr>
          <a:xfrm>
            <a:off x="514965" y="2876550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bullet-b6q67y-0">
            <a:extLst>
              <a:ext uri="{FF2B5EF4-FFF2-40B4-BE49-F238E27FC236}">
                <a16:creationId xmlns:a16="http://schemas.microsoft.com/office/drawing/2014/main" id="{29F6DD26-1603-4412-8EE2-780B5EB53509}"/>
              </a:ext>
            </a:extLst>
          </p:cNvPr>
          <p:cNvSpPr>
            <a:spLocks noGrp="1"/>
          </p:cNvSpPr>
          <p:nvPr/>
        </p:nvSpPr>
        <p:spPr>
          <a:xfrm>
            <a:off x="743565" y="2800350"/>
            <a:ext cx="577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23247"/>
                </a:solidFill>
              </a:defRPr>
            </a:pPr>
            <a:r>
              <a:rPr sz="1575" b="0" i="0">
                <a:solidFill>
                  <a:srgbClr val="123247"/>
                </a:solidFill>
              </a:rPr>
              <a:t>IP frecuentes por usuario.</a:t>
            </a:r>
          </a:p>
        </p:txBody>
      </p:sp>
      <p:sp>
        <p:nvSpPr>
          <p:cNvPr id="16" name="bullet-dot-b6q67y-1">
            <a:extLst>
              <a:ext uri="{FF2B5EF4-FFF2-40B4-BE49-F238E27FC236}">
                <a16:creationId xmlns:a16="http://schemas.microsoft.com/office/drawing/2014/main" id="{D0D33EDC-091E-4D05-86A4-8CAA8C3D9077}"/>
              </a:ext>
            </a:extLst>
          </p:cNvPr>
          <p:cNvSpPr>
            <a:spLocks noGrp="1"/>
          </p:cNvSpPr>
          <p:nvPr/>
        </p:nvSpPr>
        <p:spPr>
          <a:xfrm>
            <a:off x="514965" y="3505200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bullet-b6q67y-1">
            <a:extLst>
              <a:ext uri="{FF2B5EF4-FFF2-40B4-BE49-F238E27FC236}">
                <a16:creationId xmlns:a16="http://schemas.microsoft.com/office/drawing/2014/main" id="{A35999C0-AAD9-4452-ADC9-34367748D5B9}"/>
              </a:ext>
            </a:extLst>
          </p:cNvPr>
          <p:cNvSpPr>
            <a:spLocks noGrp="1"/>
          </p:cNvSpPr>
          <p:nvPr/>
        </p:nvSpPr>
        <p:spPr>
          <a:xfrm>
            <a:off x="743565" y="3429000"/>
            <a:ext cx="577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23247"/>
                </a:solidFill>
              </a:defRPr>
            </a:pPr>
            <a:r>
              <a:rPr sz="1575" b="0" i="0">
                <a:solidFill>
                  <a:srgbClr val="123247"/>
                </a:solidFill>
              </a:rPr>
              <a:t>Volumen de éxitos, fallos y bloqueos.</a:t>
            </a:r>
          </a:p>
        </p:txBody>
      </p:sp>
      <p:sp>
        <p:nvSpPr>
          <p:cNvPr id="20" name="bullet-dot-b6q67y-3">
            <a:extLst>
              <a:ext uri="{FF2B5EF4-FFF2-40B4-BE49-F238E27FC236}">
                <a16:creationId xmlns:a16="http://schemas.microsoft.com/office/drawing/2014/main" id="{A732D656-8083-4EEF-ADF7-E4AFD4E783C1}"/>
              </a:ext>
            </a:extLst>
          </p:cNvPr>
          <p:cNvSpPr>
            <a:spLocks noGrp="1"/>
          </p:cNvSpPr>
          <p:nvPr/>
        </p:nvSpPr>
        <p:spPr>
          <a:xfrm>
            <a:off x="514965" y="4191000"/>
            <a:ext cx="95250" cy="95250"/>
          </a:xfrm>
          <a:prstGeom prst="ellipse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bullet-b6q67y-3">
            <a:extLst>
              <a:ext uri="{FF2B5EF4-FFF2-40B4-BE49-F238E27FC236}">
                <a16:creationId xmlns:a16="http://schemas.microsoft.com/office/drawing/2014/main" id="{68321363-73A3-411E-B2E8-85439B5B7FA6}"/>
              </a:ext>
            </a:extLst>
          </p:cNvPr>
          <p:cNvSpPr>
            <a:spLocks noGrp="1"/>
          </p:cNvSpPr>
          <p:nvPr/>
        </p:nvSpPr>
        <p:spPr>
          <a:xfrm>
            <a:off x="743565" y="4114800"/>
            <a:ext cx="577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23247"/>
                </a:solidFill>
              </a:defRPr>
            </a:pPr>
            <a:r>
              <a:rPr sz="1575" b="0" i="0">
                <a:solidFill>
                  <a:srgbClr val="123247"/>
                </a:solidFill>
              </a:rPr>
              <a:t>Usuarios con evidencia insuficiente.</a:t>
            </a:r>
          </a:p>
        </p:txBody>
      </p:sp>
      <p:sp>
        <p:nvSpPr>
          <p:cNvPr id="24" name="footer-b6q67y">
            <a:extLst>
              <a:ext uri="{FF2B5EF4-FFF2-40B4-BE49-F238E27FC236}">
                <a16:creationId xmlns:a16="http://schemas.microsoft.com/office/drawing/2014/main" id="{FF831ED0-F1EC-4AD1-96EF-907619A81B2A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  <p:sp>
        <p:nvSpPr>
          <p:cNvPr id="26" name="AutoShape 2" descr="Qué es la Base de conocimientos en TI">
            <a:extLst>
              <a:ext uri="{FF2B5EF4-FFF2-40B4-BE49-F238E27FC236}">
                <a16:creationId xmlns:a16="http://schemas.microsoft.com/office/drawing/2014/main" id="{52030FF8-C586-6EEE-961D-EB7A5B975A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02062" y="1337721"/>
            <a:ext cx="152935" cy="15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2" name="Picture 4" descr="Cómo construir una base de conocimientos">
            <a:extLst>
              <a:ext uri="{FF2B5EF4-FFF2-40B4-BE49-F238E27FC236}">
                <a16:creationId xmlns:a16="http://schemas.microsoft.com/office/drawing/2014/main" id="{1F3604F9-E19C-CAC1-7A5B-C8440505D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858" y="1936569"/>
            <a:ext cx="5735076" cy="322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12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7">
            <a:extLst>
              <a:ext uri="{FF2B5EF4-FFF2-40B4-BE49-F238E27FC236}">
                <a16:creationId xmlns:a16="http://schemas.microsoft.com/office/drawing/2014/main" id="{281215EA-C944-4367-A3E4-14FF6FAB6A9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DETECCIÓN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ABD52C64-3262-45D1-B0AE-40794072D66B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 dirty="0">
                <a:solidFill>
                  <a:srgbClr val="123247"/>
                </a:solidFill>
              </a:rPr>
              <a:t>Las </a:t>
            </a:r>
            <a:r>
              <a:rPr sz="2850" b="1" i="0" dirty="0" err="1">
                <a:solidFill>
                  <a:srgbClr val="123247"/>
                </a:solidFill>
              </a:rPr>
              <a:t>reglas</a:t>
            </a:r>
            <a:r>
              <a:rPr sz="2850" b="1" i="0" dirty="0">
                <a:solidFill>
                  <a:srgbClr val="123247"/>
                </a:solidFill>
              </a:rPr>
              <a:t> </a:t>
            </a:r>
            <a:r>
              <a:rPr sz="2850" b="1" i="0" dirty="0" err="1">
                <a:solidFill>
                  <a:srgbClr val="123247"/>
                </a:solidFill>
              </a:rPr>
              <a:t>correlacionan</a:t>
            </a:r>
            <a:r>
              <a:rPr sz="2850" b="1" i="0" dirty="0">
                <a:solidFill>
                  <a:srgbClr val="123247"/>
                </a:solidFill>
              </a:rPr>
              <a:t> </a:t>
            </a:r>
            <a:r>
              <a:rPr sz="2850" b="1" i="0" dirty="0" err="1">
                <a:solidFill>
                  <a:srgbClr val="123247"/>
                </a:solidFill>
              </a:rPr>
              <a:t>señales</a:t>
            </a:r>
            <a:endParaRPr sz="2850" b="1" i="0" dirty="0">
              <a:solidFill>
                <a:srgbClr val="123247"/>
              </a:solidFill>
            </a:endParaRPr>
          </a:p>
        </p:txBody>
      </p:sp>
      <p:sp>
        <p:nvSpPr>
          <p:cNvPr id="3" name="title-rule-7">
            <a:extLst>
              <a:ext uri="{FF2B5EF4-FFF2-40B4-BE49-F238E27FC236}">
                <a16:creationId xmlns:a16="http://schemas.microsoft.com/office/drawing/2014/main" id="{8540C862-E875-4C8A-95BE-888204E85FBB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7">
            <a:extLst>
              <a:ext uri="{FF2B5EF4-FFF2-40B4-BE49-F238E27FC236}">
                <a16:creationId xmlns:a16="http://schemas.microsoft.com/office/drawing/2014/main" id="{AD2CBE88-9FA3-4CD7-83CB-7F310DF7308D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07</a:t>
            </a:r>
          </a:p>
        </p:txBody>
      </p:sp>
      <p:sp>
        <p:nvSpPr>
          <p:cNvPr id="5" name="rules-path">
            <a:extLst>
              <a:ext uri="{FF2B5EF4-FFF2-40B4-BE49-F238E27FC236}">
                <a16:creationId xmlns:a16="http://schemas.microsoft.com/office/drawing/2014/main" id="{42F15A0D-27F6-4CDB-AA83-ABCFEEAB845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0669B"/>
                </a:solidFill>
              </a:defRPr>
            </a:pPr>
            <a:r>
              <a:rPr sz="1425" b="1" i="0">
                <a:solidFill>
                  <a:srgbClr val="00669B"/>
                </a:solidFill>
              </a:rPr>
              <a:t>src/detect_alerts.py   +   config/detection_rules.json</a:t>
            </a:r>
          </a:p>
        </p:txBody>
      </p:sp>
      <p:sp>
        <p:nvSpPr>
          <p:cNvPr id="6" name="rules-h1">
            <a:extLst>
              <a:ext uri="{FF2B5EF4-FFF2-40B4-BE49-F238E27FC236}">
                <a16:creationId xmlns:a16="http://schemas.microsoft.com/office/drawing/2014/main" id="{335A0DC8-ACDD-4459-BFD7-32F9D37B8160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587287"/>
                </a:solidFill>
              </a:defRPr>
            </a:pPr>
            <a:r>
              <a:rPr sz="1275" b="1" i="0">
                <a:solidFill>
                  <a:srgbClr val="587287"/>
                </a:solidFill>
              </a:rPr>
              <a:t>Regla</a:t>
            </a:r>
          </a:p>
        </p:txBody>
      </p:sp>
      <p:sp>
        <p:nvSpPr>
          <p:cNvPr id="7" name="rules-h2">
            <a:extLst>
              <a:ext uri="{FF2B5EF4-FFF2-40B4-BE49-F238E27FC236}">
                <a16:creationId xmlns:a16="http://schemas.microsoft.com/office/drawing/2014/main" id="{203A4EB4-544C-4855-96D0-4C7B675B5204}"/>
              </a:ext>
            </a:extLst>
          </p:cNvPr>
          <p:cNvSpPr>
            <a:spLocks noGrp="1"/>
          </p:cNvSpPr>
          <p:nvPr/>
        </p:nvSpPr>
        <p:spPr>
          <a:xfrm>
            <a:off x="4000500" y="20097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587287"/>
                </a:solidFill>
              </a:defRPr>
            </a:pPr>
            <a:r>
              <a:rPr sz="1275" b="1" i="0">
                <a:solidFill>
                  <a:srgbClr val="587287"/>
                </a:solidFill>
              </a:rPr>
              <a:t>Condición provisional</a:t>
            </a:r>
          </a:p>
        </p:txBody>
      </p:sp>
      <p:sp>
        <p:nvSpPr>
          <p:cNvPr id="8" name="rules-h3">
            <a:extLst>
              <a:ext uri="{FF2B5EF4-FFF2-40B4-BE49-F238E27FC236}">
                <a16:creationId xmlns:a16="http://schemas.microsoft.com/office/drawing/2014/main" id="{7B925891-1EB7-4F51-BDF9-E0E5C4CB2818}"/>
              </a:ext>
            </a:extLst>
          </p:cNvPr>
          <p:cNvSpPr>
            <a:spLocks noGrp="1"/>
          </p:cNvSpPr>
          <p:nvPr/>
        </p:nvSpPr>
        <p:spPr>
          <a:xfrm>
            <a:off x="9525000" y="20097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587287"/>
                </a:solidFill>
              </a:defRPr>
            </a:pPr>
            <a:r>
              <a:rPr sz="1275" b="1" i="0">
                <a:solidFill>
                  <a:srgbClr val="587287"/>
                </a:solidFill>
              </a:rPr>
              <a:t>Severidad</a:t>
            </a:r>
          </a:p>
        </p:txBody>
      </p:sp>
      <p:sp>
        <p:nvSpPr>
          <p:cNvPr id="9" name="rules-headline">
            <a:extLst>
              <a:ext uri="{FF2B5EF4-FFF2-40B4-BE49-F238E27FC236}">
                <a16:creationId xmlns:a16="http://schemas.microsoft.com/office/drawing/2014/main" id="{DE483DDD-14E1-4998-A0FA-79B3A5260DBD}"/>
              </a:ext>
            </a:extLst>
          </p:cNvPr>
          <p:cNvSpPr>
            <a:spLocks noGrp="1"/>
          </p:cNvSpPr>
          <p:nvPr/>
        </p:nvSpPr>
        <p:spPr>
          <a:xfrm>
            <a:off x="647700" y="2352675"/>
            <a:ext cx="1057275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ules-name-0">
            <a:extLst>
              <a:ext uri="{FF2B5EF4-FFF2-40B4-BE49-F238E27FC236}">
                <a16:creationId xmlns:a16="http://schemas.microsoft.com/office/drawing/2014/main" id="{FB54B645-20D2-4AEF-A2C0-43CD13AF2801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23247"/>
                </a:solidFill>
              </a:defRPr>
            </a:pPr>
            <a:r>
              <a:rPr sz="1425" b="1" i="0">
                <a:solidFill>
                  <a:srgbClr val="123247"/>
                </a:solidFill>
              </a:rPr>
              <a:t>Fuerza bruta por usuario</a:t>
            </a:r>
          </a:p>
        </p:txBody>
      </p:sp>
      <p:sp>
        <p:nvSpPr>
          <p:cNvPr id="11" name="rules-condition-0">
            <a:extLst>
              <a:ext uri="{FF2B5EF4-FFF2-40B4-BE49-F238E27FC236}">
                <a16:creationId xmlns:a16="http://schemas.microsoft.com/office/drawing/2014/main" id="{4861405B-25E1-4E8A-90F4-32472BDED795}"/>
              </a:ext>
            </a:extLst>
          </p:cNvPr>
          <p:cNvSpPr>
            <a:spLocks noGrp="1"/>
          </p:cNvSpPr>
          <p:nvPr/>
        </p:nvSpPr>
        <p:spPr>
          <a:xfrm>
            <a:off x="4000500" y="25336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≥ 6 fallos / 10 min</a:t>
            </a:r>
          </a:p>
        </p:txBody>
      </p:sp>
      <p:sp>
        <p:nvSpPr>
          <p:cNvPr id="12" name="rules-sev-marker-0">
            <a:extLst>
              <a:ext uri="{FF2B5EF4-FFF2-40B4-BE49-F238E27FC236}">
                <a16:creationId xmlns:a16="http://schemas.microsoft.com/office/drawing/2014/main" id="{4807AC87-25A2-4A01-BE3D-37451B1073DF}"/>
              </a:ext>
            </a:extLst>
          </p:cNvPr>
          <p:cNvSpPr>
            <a:spLocks noGrp="1"/>
          </p:cNvSpPr>
          <p:nvPr/>
        </p:nvSpPr>
        <p:spPr>
          <a:xfrm>
            <a:off x="9544050" y="2571750"/>
            <a:ext cx="95250" cy="266700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ules-severity-0">
            <a:extLst>
              <a:ext uri="{FF2B5EF4-FFF2-40B4-BE49-F238E27FC236}">
                <a16:creationId xmlns:a16="http://schemas.microsoft.com/office/drawing/2014/main" id="{A15EE8FE-6A6B-4CE3-91C4-47F5994EEB72}"/>
              </a:ext>
            </a:extLst>
          </p:cNvPr>
          <p:cNvSpPr>
            <a:spLocks noGrp="1"/>
          </p:cNvSpPr>
          <p:nvPr/>
        </p:nvSpPr>
        <p:spPr>
          <a:xfrm>
            <a:off x="9753600" y="25336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47A20"/>
                </a:solidFill>
              </a:defRPr>
            </a:pPr>
            <a:r>
              <a:rPr sz="1350" b="1" i="0">
                <a:solidFill>
                  <a:srgbClr val="F47A20"/>
                </a:solidFill>
              </a:rPr>
              <a:t>Alta</a:t>
            </a:r>
          </a:p>
        </p:txBody>
      </p:sp>
      <p:sp>
        <p:nvSpPr>
          <p:cNvPr id="14" name="rules-row-line-0">
            <a:extLst>
              <a:ext uri="{FF2B5EF4-FFF2-40B4-BE49-F238E27FC236}">
                <a16:creationId xmlns:a16="http://schemas.microsoft.com/office/drawing/2014/main" id="{8202F0BF-6DA7-41E1-A5BA-1876FE4F4440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10572750" cy="9525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ules-name-1">
            <a:extLst>
              <a:ext uri="{FF2B5EF4-FFF2-40B4-BE49-F238E27FC236}">
                <a16:creationId xmlns:a16="http://schemas.microsoft.com/office/drawing/2014/main" id="{485117F2-693B-481F-8AC2-A1309939491B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23247"/>
                </a:solidFill>
              </a:defRPr>
            </a:pPr>
            <a:r>
              <a:rPr sz="1425" b="1" i="0">
                <a:solidFill>
                  <a:srgbClr val="123247"/>
                </a:solidFill>
              </a:rPr>
              <a:t>Password spraying por IP</a:t>
            </a:r>
          </a:p>
        </p:txBody>
      </p:sp>
      <p:sp>
        <p:nvSpPr>
          <p:cNvPr id="16" name="rules-condition-1">
            <a:extLst>
              <a:ext uri="{FF2B5EF4-FFF2-40B4-BE49-F238E27FC236}">
                <a16:creationId xmlns:a16="http://schemas.microsoft.com/office/drawing/2014/main" id="{3D0E0379-89ED-4498-8D8F-4438A6186A93}"/>
              </a:ext>
            </a:extLst>
          </p:cNvPr>
          <p:cNvSpPr>
            <a:spLocks noGrp="1"/>
          </p:cNvSpPr>
          <p:nvPr/>
        </p:nvSpPr>
        <p:spPr>
          <a:xfrm>
            <a:off x="4000500" y="32194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≥ 6 fallos y ≥ 3 cuentas / 10 min</a:t>
            </a:r>
          </a:p>
        </p:txBody>
      </p:sp>
      <p:sp>
        <p:nvSpPr>
          <p:cNvPr id="17" name="rules-sev-marker-1">
            <a:extLst>
              <a:ext uri="{FF2B5EF4-FFF2-40B4-BE49-F238E27FC236}">
                <a16:creationId xmlns:a16="http://schemas.microsoft.com/office/drawing/2014/main" id="{7440B0A8-7296-4C75-994F-2F6E871EDFE7}"/>
              </a:ext>
            </a:extLst>
          </p:cNvPr>
          <p:cNvSpPr>
            <a:spLocks noGrp="1"/>
          </p:cNvSpPr>
          <p:nvPr/>
        </p:nvSpPr>
        <p:spPr>
          <a:xfrm>
            <a:off x="9544050" y="3257550"/>
            <a:ext cx="95250" cy="266700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ules-severity-1">
            <a:extLst>
              <a:ext uri="{FF2B5EF4-FFF2-40B4-BE49-F238E27FC236}">
                <a16:creationId xmlns:a16="http://schemas.microsoft.com/office/drawing/2014/main" id="{8490959B-0310-467B-ACC2-5BBFB6E3E986}"/>
              </a:ext>
            </a:extLst>
          </p:cNvPr>
          <p:cNvSpPr>
            <a:spLocks noGrp="1"/>
          </p:cNvSpPr>
          <p:nvPr/>
        </p:nvSpPr>
        <p:spPr>
          <a:xfrm>
            <a:off x="9753600" y="32194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47A20"/>
                </a:solidFill>
              </a:defRPr>
            </a:pPr>
            <a:r>
              <a:rPr sz="1350" b="1" i="0">
                <a:solidFill>
                  <a:srgbClr val="F47A20"/>
                </a:solidFill>
              </a:rPr>
              <a:t>Alta</a:t>
            </a:r>
          </a:p>
        </p:txBody>
      </p:sp>
      <p:sp>
        <p:nvSpPr>
          <p:cNvPr id="19" name="rules-row-line-1">
            <a:extLst>
              <a:ext uri="{FF2B5EF4-FFF2-40B4-BE49-F238E27FC236}">
                <a16:creationId xmlns:a16="http://schemas.microsoft.com/office/drawing/2014/main" id="{AE97DBC9-6DFA-42FD-8667-26586E8D3D98}"/>
              </a:ext>
            </a:extLst>
          </p:cNvPr>
          <p:cNvSpPr>
            <a:spLocks noGrp="1"/>
          </p:cNvSpPr>
          <p:nvPr/>
        </p:nvSpPr>
        <p:spPr>
          <a:xfrm>
            <a:off x="647700" y="3733800"/>
            <a:ext cx="10572750" cy="9525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rules-name-2">
            <a:extLst>
              <a:ext uri="{FF2B5EF4-FFF2-40B4-BE49-F238E27FC236}">
                <a16:creationId xmlns:a16="http://schemas.microsoft.com/office/drawing/2014/main" id="{D0CD1667-968B-4A1C-B3FA-5EA7BFBF4C6C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23247"/>
                </a:solidFill>
              </a:defRPr>
            </a:pPr>
            <a:r>
              <a:rPr sz="1425" b="1" i="0">
                <a:solidFill>
                  <a:srgbClr val="123247"/>
                </a:solidFill>
              </a:rPr>
              <a:t>Éxito después de fallos</a:t>
            </a:r>
          </a:p>
        </p:txBody>
      </p:sp>
      <p:sp>
        <p:nvSpPr>
          <p:cNvPr id="21" name="rules-condition-2">
            <a:extLst>
              <a:ext uri="{FF2B5EF4-FFF2-40B4-BE49-F238E27FC236}">
                <a16:creationId xmlns:a16="http://schemas.microsoft.com/office/drawing/2014/main" id="{9C26F414-5B00-4922-94D6-AD1F78F35151}"/>
              </a:ext>
            </a:extLst>
          </p:cNvPr>
          <p:cNvSpPr>
            <a:spLocks noGrp="1"/>
          </p:cNvSpPr>
          <p:nvPr/>
        </p:nvSpPr>
        <p:spPr>
          <a:xfrm>
            <a:off x="4000500" y="39052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éxito tras ≥ 5 fallos / 10 min</a:t>
            </a:r>
          </a:p>
        </p:txBody>
      </p:sp>
      <p:sp>
        <p:nvSpPr>
          <p:cNvPr id="22" name="rules-sev-marker-2">
            <a:extLst>
              <a:ext uri="{FF2B5EF4-FFF2-40B4-BE49-F238E27FC236}">
                <a16:creationId xmlns:a16="http://schemas.microsoft.com/office/drawing/2014/main" id="{B6770EDD-9F39-41B1-AD92-D9CC4C84DBD6}"/>
              </a:ext>
            </a:extLst>
          </p:cNvPr>
          <p:cNvSpPr>
            <a:spLocks noGrp="1"/>
          </p:cNvSpPr>
          <p:nvPr/>
        </p:nvSpPr>
        <p:spPr>
          <a:xfrm>
            <a:off x="9544050" y="3943350"/>
            <a:ext cx="95250" cy="266700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ules-severity-2">
            <a:extLst>
              <a:ext uri="{FF2B5EF4-FFF2-40B4-BE49-F238E27FC236}">
                <a16:creationId xmlns:a16="http://schemas.microsoft.com/office/drawing/2014/main" id="{56D656C7-A188-4F61-AC00-905AA9072AAA}"/>
              </a:ext>
            </a:extLst>
          </p:cNvPr>
          <p:cNvSpPr>
            <a:spLocks noGrp="1"/>
          </p:cNvSpPr>
          <p:nvPr/>
        </p:nvSpPr>
        <p:spPr>
          <a:xfrm>
            <a:off x="9753600" y="39052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47A20"/>
                </a:solidFill>
              </a:defRPr>
            </a:pPr>
            <a:r>
              <a:rPr sz="1350" b="1" i="0">
                <a:solidFill>
                  <a:srgbClr val="F47A20"/>
                </a:solidFill>
              </a:rPr>
              <a:t>Alta</a:t>
            </a:r>
          </a:p>
        </p:txBody>
      </p:sp>
      <p:sp>
        <p:nvSpPr>
          <p:cNvPr id="24" name="rules-row-line-2">
            <a:extLst>
              <a:ext uri="{FF2B5EF4-FFF2-40B4-BE49-F238E27FC236}">
                <a16:creationId xmlns:a16="http://schemas.microsoft.com/office/drawing/2014/main" id="{FF926E09-8319-4AEC-B4A9-DA90FA2D2216}"/>
              </a:ext>
            </a:extLst>
          </p:cNvPr>
          <p:cNvSpPr>
            <a:spLocks noGrp="1"/>
          </p:cNvSpPr>
          <p:nvPr/>
        </p:nvSpPr>
        <p:spPr>
          <a:xfrm>
            <a:off x="647700" y="4419600"/>
            <a:ext cx="10572750" cy="9525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ules-name-3">
            <a:extLst>
              <a:ext uri="{FF2B5EF4-FFF2-40B4-BE49-F238E27FC236}">
                <a16:creationId xmlns:a16="http://schemas.microsoft.com/office/drawing/2014/main" id="{73EF6C46-0DA0-4416-96BA-5E1A057CC9DB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23247"/>
                </a:solidFill>
              </a:defRPr>
            </a:pPr>
            <a:r>
              <a:rPr sz="1425" b="1" i="0">
                <a:solidFill>
                  <a:srgbClr val="123247"/>
                </a:solidFill>
              </a:rPr>
              <a:t>Bloqueos múltiples</a:t>
            </a:r>
          </a:p>
        </p:txBody>
      </p:sp>
      <p:sp>
        <p:nvSpPr>
          <p:cNvPr id="26" name="rules-condition-3">
            <a:extLst>
              <a:ext uri="{FF2B5EF4-FFF2-40B4-BE49-F238E27FC236}">
                <a16:creationId xmlns:a16="http://schemas.microsoft.com/office/drawing/2014/main" id="{36029B6E-2217-4DF0-95FF-032D8F99E83D}"/>
              </a:ext>
            </a:extLst>
          </p:cNvPr>
          <p:cNvSpPr>
            <a:spLocks noGrp="1"/>
          </p:cNvSpPr>
          <p:nvPr/>
        </p:nvSpPr>
        <p:spPr>
          <a:xfrm>
            <a:off x="4000500" y="45910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≥ 2 bloqueos / 10 min</a:t>
            </a:r>
          </a:p>
        </p:txBody>
      </p:sp>
      <p:sp>
        <p:nvSpPr>
          <p:cNvPr id="27" name="rules-sev-marker-3">
            <a:extLst>
              <a:ext uri="{FF2B5EF4-FFF2-40B4-BE49-F238E27FC236}">
                <a16:creationId xmlns:a16="http://schemas.microsoft.com/office/drawing/2014/main" id="{F4B92ACE-A37C-49BF-83B6-D972D37745C7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5250" cy="266700"/>
          </a:xfrm>
          <a:prstGeom prst="rect">
            <a:avLst/>
          </a:prstGeom>
          <a:solidFill>
            <a:srgbClr val="D93B4B"/>
          </a:solidFill>
          <a:ln w="0">
            <a:solidFill>
              <a:srgbClr val="D93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rules-severity-3">
            <a:extLst>
              <a:ext uri="{FF2B5EF4-FFF2-40B4-BE49-F238E27FC236}">
                <a16:creationId xmlns:a16="http://schemas.microsoft.com/office/drawing/2014/main" id="{188E65A0-E15F-4FE2-8968-F291327135E4}"/>
              </a:ext>
            </a:extLst>
          </p:cNvPr>
          <p:cNvSpPr>
            <a:spLocks noGrp="1"/>
          </p:cNvSpPr>
          <p:nvPr/>
        </p:nvSpPr>
        <p:spPr>
          <a:xfrm>
            <a:off x="9753600" y="45910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D93B4B"/>
                </a:solidFill>
              </a:defRPr>
            </a:pPr>
            <a:r>
              <a:rPr sz="1350" b="1" i="0">
                <a:solidFill>
                  <a:srgbClr val="D93B4B"/>
                </a:solidFill>
              </a:rPr>
              <a:t>Crítica</a:t>
            </a:r>
          </a:p>
        </p:txBody>
      </p:sp>
      <p:sp>
        <p:nvSpPr>
          <p:cNvPr id="29" name="rules-row-line-3">
            <a:extLst>
              <a:ext uri="{FF2B5EF4-FFF2-40B4-BE49-F238E27FC236}">
                <a16:creationId xmlns:a16="http://schemas.microsoft.com/office/drawing/2014/main" id="{4C61C5CA-CFCF-4807-8E34-3D286961B578}"/>
              </a:ext>
            </a:extLst>
          </p:cNvPr>
          <p:cNvSpPr>
            <a:spLocks noGrp="1"/>
          </p:cNvSpPr>
          <p:nvPr/>
        </p:nvSpPr>
        <p:spPr>
          <a:xfrm>
            <a:off x="647700" y="5105400"/>
            <a:ext cx="10572750" cy="9525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ules-name-4">
            <a:extLst>
              <a:ext uri="{FF2B5EF4-FFF2-40B4-BE49-F238E27FC236}">
                <a16:creationId xmlns:a16="http://schemas.microsoft.com/office/drawing/2014/main" id="{ABE54D29-CDA6-4E6B-AA2B-035A3A14689B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23247"/>
                </a:solidFill>
              </a:defRPr>
            </a:pPr>
            <a:r>
              <a:rPr sz="1425" b="1" i="0">
                <a:solidFill>
                  <a:srgbClr val="123247"/>
                </a:solidFill>
              </a:rPr>
              <a:t>IP nueva repetida</a:t>
            </a:r>
          </a:p>
        </p:txBody>
      </p:sp>
      <p:sp>
        <p:nvSpPr>
          <p:cNvPr id="31" name="rules-condition-4">
            <a:extLst>
              <a:ext uri="{FF2B5EF4-FFF2-40B4-BE49-F238E27FC236}">
                <a16:creationId xmlns:a16="http://schemas.microsoft.com/office/drawing/2014/main" id="{6CEFC847-AA1C-4DBE-87ED-8724C1EBE75E}"/>
              </a:ext>
            </a:extLst>
          </p:cNvPr>
          <p:cNvSpPr>
            <a:spLocks noGrp="1"/>
          </p:cNvSpPr>
          <p:nvPr/>
        </p:nvSpPr>
        <p:spPr>
          <a:xfrm>
            <a:off x="4000500" y="52768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87287"/>
                </a:solidFill>
              </a:defRPr>
            </a:pPr>
            <a:r>
              <a:rPr sz="1350" b="0" i="0">
                <a:solidFill>
                  <a:srgbClr val="587287"/>
                </a:solidFill>
              </a:rPr>
              <a:t>≥ 3 eventos + línea base suficiente</a:t>
            </a:r>
          </a:p>
        </p:txBody>
      </p:sp>
      <p:sp>
        <p:nvSpPr>
          <p:cNvPr id="32" name="rules-sev-marker-4">
            <a:extLst>
              <a:ext uri="{FF2B5EF4-FFF2-40B4-BE49-F238E27FC236}">
                <a16:creationId xmlns:a16="http://schemas.microsoft.com/office/drawing/2014/main" id="{6B883B46-26B6-424F-B208-91B9557CE9B4}"/>
              </a:ext>
            </a:extLst>
          </p:cNvPr>
          <p:cNvSpPr>
            <a:spLocks noGrp="1"/>
          </p:cNvSpPr>
          <p:nvPr/>
        </p:nvSpPr>
        <p:spPr>
          <a:xfrm>
            <a:off x="9544050" y="5314950"/>
            <a:ext cx="95250" cy="266700"/>
          </a:xfrm>
          <a:prstGeom prst="rect">
            <a:avLst/>
          </a:prstGeom>
          <a:solidFill>
            <a:srgbClr val="E5B700"/>
          </a:solidFill>
          <a:ln w="0">
            <a:solidFill>
              <a:srgbClr val="E5B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rules-severity-4">
            <a:extLst>
              <a:ext uri="{FF2B5EF4-FFF2-40B4-BE49-F238E27FC236}">
                <a16:creationId xmlns:a16="http://schemas.microsoft.com/office/drawing/2014/main" id="{AEFCAF9F-3D56-48BE-B1EA-E2F159F4CD43}"/>
              </a:ext>
            </a:extLst>
          </p:cNvPr>
          <p:cNvSpPr>
            <a:spLocks noGrp="1"/>
          </p:cNvSpPr>
          <p:nvPr/>
        </p:nvSpPr>
        <p:spPr>
          <a:xfrm>
            <a:off x="9753600" y="52768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E5B700"/>
                </a:solidFill>
              </a:defRPr>
            </a:pPr>
            <a:r>
              <a:rPr sz="1350" b="1" i="0">
                <a:solidFill>
                  <a:srgbClr val="E5B700"/>
                </a:solidFill>
              </a:rPr>
              <a:t>Media</a:t>
            </a:r>
          </a:p>
        </p:txBody>
      </p:sp>
      <p:sp>
        <p:nvSpPr>
          <p:cNvPr id="34" name="rules-row-line-4">
            <a:extLst>
              <a:ext uri="{FF2B5EF4-FFF2-40B4-BE49-F238E27FC236}">
                <a16:creationId xmlns:a16="http://schemas.microsoft.com/office/drawing/2014/main" id="{56251DCE-F2DE-4E63-AA7C-59109F118DB6}"/>
              </a:ext>
            </a:extLst>
          </p:cNvPr>
          <p:cNvSpPr>
            <a:spLocks noGrp="1"/>
          </p:cNvSpPr>
          <p:nvPr/>
        </p:nvSpPr>
        <p:spPr>
          <a:xfrm>
            <a:off x="647700" y="5791200"/>
            <a:ext cx="10572750" cy="9525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footer-73h4q4">
            <a:extLst>
              <a:ext uri="{FF2B5EF4-FFF2-40B4-BE49-F238E27FC236}">
                <a16:creationId xmlns:a16="http://schemas.microsoft.com/office/drawing/2014/main" id="{64FC4F15-0FD4-4D8D-AB01-D4CD028CEF19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23493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8">
            <a:extLst>
              <a:ext uri="{FF2B5EF4-FFF2-40B4-BE49-F238E27FC236}">
                <a16:creationId xmlns:a16="http://schemas.microsoft.com/office/drawing/2014/main" id="{BE9CE162-FE04-448A-A05E-13C8D557532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CONTROL DE RUIDO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3396AF85-67FF-44D5-A72E-75CEDB4ED5B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La recalibración retiró 2.520 casos que ya no cumplían las reglas</a:t>
            </a:r>
          </a:p>
        </p:txBody>
      </p:sp>
      <p:sp>
        <p:nvSpPr>
          <p:cNvPr id="3" name="title-rule-8">
            <a:extLst>
              <a:ext uri="{FF2B5EF4-FFF2-40B4-BE49-F238E27FC236}">
                <a16:creationId xmlns:a16="http://schemas.microsoft.com/office/drawing/2014/main" id="{67A1C73E-D583-4CDC-B1C0-20D66CEF517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8">
            <a:extLst>
              <a:ext uri="{FF2B5EF4-FFF2-40B4-BE49-F238E27FC236}">
                <a16:creationId xmlns:a16="http://schemas.microsoft.com/office/drawing/2014/main" id="{9FC2F9D4-27A9-495D-879D-C5FE2147C08D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08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402331936"/>
              </p:ext>
            </p:extLst>
          </p:nvPr>
        </p:nvGraphicFramePr>
        <p:xfrm>
          <a:off x="609600" y="1790700"/>
          <a:ext cx="6286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footer-0ii9nj">
            <a:extLst>
              <a:ext uri="{FF2B5EF4-FFF2-40B4-BE49-F238E27FC236}">
                <a16:creationId xmlns:a16="http://schemas.microsoft.com/office/drawing/2014/main" id="{1ADFF961-705E-438E-B8AF-AD9B1090C4BD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  <p:pic>
        <p:nvPicPr>
          <p:cNvPr id="3074" name="Picture 2" descr="Ajuste - Iconos gratis de formas y simbolos">
            <a:extLst>
              <a:ext uri="{FF2B5EF4-FFF2-40B4-BE49-F238E27FC236}">
                <a16:creationId xmlns:a16="http://schemas.microsoft.com/office/drawing/2014/main" id="{2BEB1CE2-6FB5-38F3-F585-89E2DAE6D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725" y="1790700"/>
            <a:ext cx="389572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32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9">
            <a:extLst>
              <a:ext uri="{FF2B5EF4-FFF2-40B4-BE49-F238E27FC236}">
                <a16:creationId xmlns:a16="http://schemas.microsoft.com/office/drawing/2014/main" id="{621C36CC-C98A-48B1-B7C2-6D209DD0A53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ATENCIÓN DE CASOS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B143910A-2311-4FE8-BAEE-F08BD14E9C1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Cada alerta sigue un ciclo de revisión trazable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DEC3E05E-FE5D-4C06-930A-3152C172B36A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9">
            <a:extLst>
              <a:ext uri="{FF2B5EF4-FFF2-40B4-BE49-F238E27FC236}">
                <a16:creationId xmlns:a16="http://schemas.microsoft.com/office/drawing/2014/main" id="{79A8328D-68F5-4CBD-B44F-44D245E30327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09</a:t>
            </a:r>
          </a:p>
        </p:txBody>
      </p:sp>
      <p:sp>
        <p:nvSpPr>
          <p:cNvPr id="5" name="state-node-0">
            <a:extLst>
              <a:ext uri="{FF2B5EF4-FFF2-40B4-BE49-F238E27FC236}">
                <a16:creationId xmlns:a16="http://schemas.microsoft.com/office/drawing/2014/main" id="{C0C6A2AA-F258-4832-BF75-587E2182DD24}"/>
              </a:ext>
            </a:extLst>
          </p:cNvPr>
          <p:cNvSpPr>
            <a:spLocks noGrp="1"/>
          </p:cNvSpPr>
          <p:nvPr/>
        </p:nvSpPr>
        <p:spPr>
          <a:xfrm>
            <a:off x="495300" y="226695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tate-node-1">
            <a:extLst>
              <a:ext uri="{FF2B5EF4-FFF2-40B4-BE49-F238E27FC236}">
                <a16:creationId xmlns:a16="http://schemas.microsoft.com/office/drawing/2014/main" id="{D5EA5B25-A8DB-4F0F-9612-2F25B21133B3}"/>
              </a:ext>
            </a:extLst>
          </p:cNvPr>
          <p:cNvSpPr>
            <a:spLocks noGrp="1"/>
          </p:cNvSpPr>
          <p:nvPr/>
        </p:nvSpPr>
        <p:spPr>
          <a:xfrm>
            <a:off x="2781300" y="226695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tate-node-2">
            <a:extLst>
              <a:ext uri="{FF2B5EF4-FFF2-40B4-BE49-F238E27FC236}">
                <a16:creationId xmlns:a16="http://schemas.microsoft.com/office/drawing/2014/main" id="{BE1DF8B0-A8B4-41BA-8159-542783AAD2E5}"/>
              </a:ext>
            </a:extLst>
          </p:cNvPr>
          <p:cNvSpPr>
            <a:spLocks noGrp="1"/>
          </p:cNvSpPr>
          <p:nvPr/>
        </p:nvSpPr>
        <p:spPr>
          <a:xfrm>
            <a:off x="5067300" y="226695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tate-node-3">
            <a:extLst>
              <a:ext uri="{FF2B5EF4-FFF2-40B4-BE49-F238E27FC236}">
                <a16:creationId xmlns:a16="http://schemas.microsoft.com/office/drawing/2014/main" id="{8E396670-64C0-4FCE-B908-88DDCE707683}"/>
              </a:ext>
            </a:extLst>
          </p:cNvPr>
          <p:cNvSpPr>
            <a:spLocks noGrp="1"/>
          </p:cNvSpPr>
          <p:nvPr/>
        </p:nvSpPr>
        <p:spPr>
          <a:xfrm>
            <a:off x="7353300" y="226695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EAF5FA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tate-node-4">
            <a:extLst>
              <a:ext uri="{FF2B5EF4-FFF2-40B4-BE49-F238E27FC236}">
                <a16:creationId xmlns:a16="http://schemas.microsoft.com/office/drawing/2014/main" id="{A8EFB8C2-DCC4-48DD-B8E3-BF8F6C3EFA40}"/>
              </a:ext>
            </a:extLst>
          </p:cNvPr>
          <p:cNvSpPr>
            <a:spLocks noGrp="1"/>
          </p:cNvSpPr>
          <p:nvPr/>
        </p:nvSpPr>
        <p:spPr>
          <a:xfrm>
            <a:off x="9639300" y="226695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EAF5FA"/>
          </a:solidFill>
          <a:ln w="9525">
            <a:solidFill>
              <a:srgbClr val="E5B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cxnSp>
        <p:nvCxnSpPr>
          <p:cNvPr id="36" name="Conector recto de flecha 35"/>
          <p:cNvCxnSpPr>
            <a:stCxn id="5" idx="3"/>
            <a:endCxn id="6" idx="1"/>
          </p:cNvCxnSpPr>
          <p:nvPr/>
        </p:nvCxnSpPr>
        <p:spPr>
          <a:xfrm>
            <a:off x="2305050" y="2867025"/>
            <a:ext cx="4762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37" name="Conector recto de flecha 36"/>
          <p:cNvCxnSpPr>
            <a:stCxn id="6" idx="3"/>
            <a:endCxn id="7" idx="1"/>
          </p:cNvCxnSpPr>
          <p:nvPr/>
        </p:nvCxnSpPr>
        <p:spPr>
          <a:xfrm>
            <a:off x="4591050" y="2867025"/>
            <a:ext cx="4762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38" name="Conector recto de flecha 37"/>
          <p:cNvCxnSpPr>
            <a:stCxn id="7" idx="3"/>
            <a:endCxn id="8" idx="1"/>
          </p:cNvCxnSpPr>
          <p:nvPr/>
        </p:nvCxnSpPr>
        <p:spPr>
          <a:xfrm>
            <a:off x="6877050" y="2867025"/>
            <a:ext cx="476250" cy="0"/>
          </a:xfrm>
          <a:prstGeom prst="straightConnector1">
            <a:avLst/>
          </a:prstGeom>
          <a:ln w="19050">
            <a:solidFill>
              <a:srgbClr val="31A6C8"/>
            </a:solidFill>
            <a:prstDash val="solid"/>
            <a:headEnd type="arrow" w="med" len="med"/>
          </a:ln>
        </p:spPr>
      </p:cxnSp>
      <p:cxnSp>
        <p:nvCxnSpPr>
          <p:cNvPr id="39" name="Conector: curvado 38"/>
          <p:cNvCxnSpPr>
            <a:stCxn id="7" idx="2"/>
            <a:endCxn id="9" idx="2"/>
          </p:cNvCxnSpPr>
          <p:nvPr/>
        </p:nvCxnSpPr>
        <p:spPr>
          <a:xfrm>
            <a:off x="5972175" y="3467100"/>
            <a:ext cx="4572000" cy="0"/>
          </a:xfrm>
          <a:prstGeom prst="curvedConnector2">
            <a:avLst/>
          </a:prstGeom>
          <a:ln w="19050">
            <a:solidFill>
              <a:srgbClr val="E5B700"/>
            </a:solidFill>
            <a:prstDash val="dash"/>
            <a:headEnd type="arrow" w="med" len="med"/>
          </a:ln>
        </p:spPr>
      </p:cxnSp>
      <p:sp>
        <p:nvSpPr>
          <p:cNvPr id="14" name="state-code-0">
            <a:extLst>
              <a:ext uri="{FF2B5EF4-FFF2-40B4-BE49-F238E27FC236}">
                <a16:creationId xmlns:a16="http://schemas.microsoft.com/office/drawing/2014/main" id="{3E2E7391-6D71-4701-BB72-FF593CD5A259}"/>
              </a:ext>
            </a:extLst>
          </p:cNvPr>
          <p:cNvSpPr>
            <a:spLocks noGrp="1"/>
          </p:cNvSpPr>
          <p:nvPr/>
        </p:nvSpPr>
        <p:spPr>
          <a:xfrm>
            <a:off x="628650" y="2438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0669B"/>
                </a:solidFill>
              </a:defRPr>
            </a:pPr>
            <a:r>
              <a:rPr sz="1275" b="1" i="0">
                <a:solidFill>
                  <a:srgbClr val="00669B"/>
                </a:solidFill>
              </a:rPr>
              <a:t>new</a:t>
            </a:r>
          </a:p>
        </p:txBody>
      </p:sp>
      <p:sp>
        <p:nvSpPr>
          <p:cNvPr id="15" name="state-desc-0">
            <a:extLst>
              <a:ext uri="{FF2B5EF4-FFF2-40B4-BE49-F238E27FC236}">
                <a16:creationId xmlns:a16="http://schemas.microsoft.com/office/drawing/2014/main" id="{94007D13-C702-48C2-AB6D-E6ECEDC01524}"/>
              </a:ext>
            </a:extLst>
          </p:cNvPr>
          <p:cNvSpPr>
            <a:spLocks noGrp="1"/>
          </p:cNvSpPr>
          <p:nvPr/>
        </p:nvSpPr>
        <p:spPr>
          <a:xfrm>
            <a:off x="628650" y="28765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123247"/>
                </a:solidFill>
              </a:defRPr>
            </a:pPr>
            <a:r>
              <a:rPr lang="es-MX" sz="1275" b="0" i="0" dirty="0">
                <a:solidFill>
                  <a:srgbClr val="123247"/>
                </a:solidFill>
              </a:rPr>
              <a:t>Caso nuevo</a:t>
            </a:r>
            <a:endParaRPr sz="1275" b="0" i="0" dirty="0">
              <a:solidFill>
                <a:srgbClr val="123247"/>
              </a:solidFill>
            </a:endParaRPr>
          </a:p>
        </p:txBody>
      </p:sp>
      <p:sp>
        <p:nvSpPr>
          <p:cNvPr id="16" name="state-code-1">
            <a:extLst>
              <a:ext uri="{FF2B5EF4-FFF2-40B4-BE49-F238E27FC236}">
                <a16:creationId xmlns:a16="http://schemas.microsoft.com/office/drawing/2014/main" id="{2468F57D-374D-4C61-81F0-2548225C3471}"/>
              </a:ext>
            </a:extLst>
          </p:cNvPr>
          <p:cNvSpPr>
            <a:spLocks noGrp="1"/>
          </p:cNvSpPr>
          <p:nvPr/>
        </p:nvSpPr>
        <p:spPr>
          <a:xfrm>
            <a:off x="2914650" y="2438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0669B"/>
                </a:solidFill>
              </a:defRPr>
            </a:pPr>
            <a:r>
              <a:rPr sz="1275" b="1" i="0">
                <a:solidFill>
                  <a:srgbClr val="00669B"/>
                </a:solidFill>
              </a:rPr>
              <a:t>notified</a:t>
            </a:r>
          </a:p>
        </p:txBody>
      </p:sp>
      <p:sp>
        <p:nvSpPr>
          <p:cNvPr id="17" name="state-desc-1">
            <a:extLst>
              <a:ext uri="{FF2B5EF4-FFF2-40B4-BE49-F238E27FC236}">
                <a16:creationId xmlns:a16="http://schemas.microsoft.com/office/drawing/2014/main" id="{EAA5A59C-0016-4370-BDAD-C02FF1D0AAD2}"/>
              </a:ext>
            </a:extLst>
          </p:cNvPr>
          <p:cNvSpPr>
            <a:spLocks noGrp="1"/>
          </p:cNvSpPr>
          <p:nvPr/>
        </p:nvSpPr>
        <p:spPr>
          <a:xfrm>
            <a:off x="2914650" y="28765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123247"/>
                </a:solidFill>
              </a:defRPr>
            </a:pPr>
            <a:r>
              <a:rPr sz="1275" b="0" i="0">
                <a:solidFill>
                  <a:srgbClr val="123247"/>
                </a:solidFill>
              </a:rPr>
              <a:t>Visible en soc_inbox</a:t>
            </a:r>
          </a:p>
        </p:txBody>
      </p:sp>
      <p:sp>
        <p:nvSpPr>
          <p:cNvPr id="18" name="state-code-2">
            <a:extLst>
              <a:ext uri="{FF2B5EF4-FFF2-40B4-BE49-F238E27FC236}">
                <a16:creationId xmlns:a16="http://schemas.microsoft.com/office/drawing/2014/main" id="{6C603A01-9FA7-4216-A1F7-F294D1BCB065}"/>
              </a:ext>
            </a:extLst>
          </p:cNvPr>
          <p:cNvSpPr>
            <a:spLocks noGrp="1"/>
          </p:cNvSpPr>
          <p:nvPr/>
        </p:nvSpPr>
        <p:spPr>
          <a:xfrm>
            <a:off x="5200650" y="2438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0669B"/>
                </a:solidFill>
              </a:defRPr>
            </a:pPr>
            <a:r>
              <a:rPr sz="1275" b="1" i="0">
                <a:solidFill>
                  <a:srgbClr val="00669B"/>
                </a:solidFill>
              </a:rPr>
              <a:t>investigating</a:t>
            </a:r>
          </a:p>
        </p:txBody>
      </p:sp>
      <p:sp>
        <p:nvSpPr>
          <p:cNvPr id="19" name="state-desc-2">
            <a:extLst>
              <a:ext uri="{FF2B5EF4-FFF2-40B4-BE49-F238E27FC236}">
                <a16:creationId xmlns:a16="http://schemas.microsoft.com/office/drawing/2014/main" id="{E4FAB139-B93F-4DDD-B4EE-3969FA94FD0D}"/>
              </a:ext>
            </a:extLst>
          </p:cNvPr>
          <p:cNvSpPr>
            <a:spLocks noGrp="1"/>
          </p:cNvSpPr>
          <p:nvPr/>
        </p:nvSpPr>
        <p:spPr>
          <a:xfrm>
            <a:off x="5200650" y="28765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123247"/>
                </a:solidFill>
              </a:defRPr>
            </a:pPr>
            <a:r>
              <a:rPr sz="1275" b="0" i="0">
                <a:solidFill>
                  <a:srgbClr val="123247"/>
                </a:solidFill>
              </a:rPr>
              <a:t>Analista revisa evidencia</a:t>
            </a:r>
          </a:p>
        </p:txBody>
      </p:sp>
      <p:sp>
        <p:nvSpPr>
          <p:cNvPr id="20" name="state-code-3">
            <a:extLst>
              <a:ext uri="{FF2B5EF4-FFF2-40B4-BE49-F238E27FC236}">
                <a16:creationId xmlns:a16="http://schemas.microsoft.com/office/drawing/2014/main" id="{D0D58A2B-09DF-4D5F-8D22-C0705F883616}"/>
              </a:ext>
            </a:extLst>
          </p:cNvPr>
          <p:cNvSpPr>
            <a:spLocks noGrp="1"/>
          </p:cNvSpPr>
          <p:nvPr/>
        </p:nvSpPr>
        <p:spPr>
          <a:xfrm>
            <a:off x="7486650" y="2438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0669B"/>
                </a:solidFill>
              </a:defRPr>
            </a:pPr>
            <a:r>
              <a:rPr sz="1275" b="1" i="0">
                <a:solidFill>
                  <a:srgbClr val="00669B"/>
                </a:solidFill>
              </a:rPr>
              <a:t>resolved</a:t>
            </a:r>
          </a:p>
        </p:txBody>
      </p:sp>
      <p:sp>
        <p:nvSpPr>
          <p:cNvPr id="21" name="state-desc-3">
            <a:extLst>
              <a:ext uri="{FF2B5EF4-FFF2-40B4-BE49-F238E27FC236}">
                <a16:creationId xmlns:a16="http://schemas.microsoft.com/office/drawing/2014/main" id="{8DD19CBF-FC50-4C6C-8B6D-880A3E2F1BDE}"/>
              </a:ext>
            </a:extLst>
          </p:cNvPr>
          <p:cNvSpPr>
            <a:spLocks noGrp="1"/>
          </p:cNvSpPr>
          <p:nvPr/>
        </p:nvSpPr>
        <p:spPr>
          <a:xfrm>
            <a:off x="7486650" y="28765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123247"/>
                </a:solidFill>
              </a:defRPr>
            </a:pPr>
            <a:r>
              <a:rPr sz="1275" b="0" i="0">
                <a:solidFill>
                  <a:srgbClr val="123247"/>
                </a:solidFill>
              </a:rPr>
              <a:t>Incidente atendido</a:t>
            </a:r>
          </a:p>
        </p:txBody>
      </p:sp>
      <p:sp>
        <p:nvSpPr>
          <p:cNvPr id="22" name="state-code-4">
            <a:extLst>
              <a:ext uri="{FF2B5EF4-FFF2-40B4-BE49-F238E27FC236}">
                <a16:creationId xmlns:a16="http://schemas.microsoft.com/office/drawing/2014/main" id="{A670DC18-A387-41B8-9F6D-7FE3E2DF9783}"/>
              </a:ext>
            </a:extLst>
          </p:cNvPr>
          <p:cNvSpPr>
            <a:spLocks noGrp="1"/>
          </p:cNvSpPr>
          <p:nvPr/>
        </p:nvSpPr>
        <p:spPr>
          <a:xfrm>
            <a:off x="9772650" y="2438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E5B700"/>
                </a:solidFill>
              </a:defRPr>
            </a:pPr>
            <a:r>
              <a:rPr sz="1275" b="1" i="0">
                <a:solidFill>
                  <a:srgbClr val="E5B700"/>
                </a:solidFill>
              </a:rPr>
              <a:t>false_positive</a:t>
            </a:r>
          </a:p>
        </p:txBody>
      </p:sp>
      <p:sp>
        <p:nvSpPr>
          <p:cNvPr id="23" name="state-desc-4">
            <a:extLst>
              <a:ext uri="{FF2B5EF4-FFF2-40B4-BE49-F238E27FC236}">
                <a16:creationId xmlns:a16="http://schemas.microsoft.com/office/drawing/2014/main" id="{EF514683-9F5E-4811-B78E-D657239E9218}"/>
              </a:ext>
            </a:extLst>
          </p:cNvPr>
          <p:cNvSpPr>
            <a:spLocks noGrp="1"/>
          </p:cNvSpPr>
          <p:nvPr/>
        </p:nvSpPr>
        <p:spPr>
          <a:xfrm>
            <a:off x="9772650" y="28765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 i="0">
                <a:solidFill>
                  <a:srgbClr val="123247"/>
                </a:solidFill>
              </a:defRPr>
            </a:pPr>
            <a:r>
              <a:rPr sz="1275" b="0" i="0" dirty="0" err="1">
                <a:solidFill>
                  <a:srgbClr val="123247"/>
                </a:solidFill>
              </a:rPr>
              <a:t>Actividad</a:t>
            </a:r>
            <a:r>
              <a:rPr sz="1275" b="0" i="0" dirty="0">
                <a:solidFill>
                  <a:srgbClr val="123247"/>
                </a:solidFill>
              </a:rPr>
              <a:t> </a:t>
            </a:r>
            <a:r>
              <a:rPr sz="1275" b="0" i="0" dirty="0" err="1">
                <a:solidFill>
                  <a:srgbClr val="123247"/>
                </a:solidFill>
              </a:rPr>
              <a:t>legítima</a:t>
            </a:r>
            <a:endParaRPr sz="1275" b="0" i="0" dirty="0">
              <a:solidFill>
                <a:srgbClr val="123247"/>
              </a:solidFill>
            </a:endParaRPr>
          </a:p>
        </p:txBody>
      </p:sp>
      <p:sp>
        <p:nvSpPr>
          <p:cNvPr id="24" name="case-files">
            <a:extLst>
              <a:ext uri="{FF2B5EF4-FFF2-40B4-BE49-F238E27FC236}">
                <a16:creationId xmlns:a16="http://schemas.microsoft.com/office/drawing/2014/main" id="{FCDCD6BC-1AEA-460B-AD09-BD8E77AAD117}"/>
              </a:ext>
            </a:extLst>
          </p:cNvPr>
          <p:cNvSpPr>
            <a:spLocks noGrp="1"/>
          </p:cNvSpPr>
          <p:nvPr/>
        </p:nvSpPr>
        <p:spPr>
          <a:xfrm>
            <a:off x="1162050" y="46101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 i="0">
                <a:solidFill>
                  <a:srgbClr val="00669B"/>
                </a:solidFill>
              </a:defRPr>
            </a:pPr>
            <a:r>
              <a:rPr sz="1425" b="1" i="0">
                <a:solidFill>
                  <a:srgbClr val="00669B"/>
                </a:solidFill>
              </a:rPr>
              <a:t>src/alert_store.py   ·   src/notifications.py   ·   src/dashboard_service.py</a:t>
            </a:r>
          </a:p>
        </p:txBody>
      </p:sp>
      <p:sp>
        <p:nvSpPr>
          <p:cNvPr id="25" name="case-explain">
            <a:extLst>
              <a:ext uri="{FF2B5EF4-FFF2-40B4-BE49-F238E27FC236}">
                <a16:creationId xmlns:a16="http://schemas.microsoft.com/office/drawing/2014/main" id="{91A8674A-645B-4247-9FDE-EED7DEA6B2AD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23247"/>
                </a:solidFill>
              </a:defRPr>
            </a:pPr>
            <a:r>
              <a:rPr sz="1650" b="1" i="0">
                <a:solidFill>
                  <a:srgbClr val="123247"/>
                </a:solidFill>
              </a:rPr>
              <a:t>SQLite conserva evidencia, cambios de estado, entregas, cooldown y checkpoint entre ejecuciones.</a:t>
            </a:r>
          </a:p>
        </p:txBody>
      </p:sp>
      <p:sp>
        <p:nvSpPr>
          <p:cNvPr id="26" name="footer-9mqtnx">
            <a:extLst>
              <a:ext uri="{FF2B5EF4-FFF2-40B4-BE49-F238E27FC236}">
                <a16:creationId xmlns:a16="http://schemas.microsoft.com/office/drawing/2014/main" id="{BE29D1AE-0377-4815-9C1D-0727AE69C55C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307947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14">
            <a:extLst>
              <a:ext uri="{FF2B5EF4-FFF2-40B4-BE49-F238E27FC236}">
                <a16:creationId xmlns:a16="http://schemas.microsoft.com/office/drawing/2014/main" id="{7DF354FD-2B99-4558-8CA1-D3950F7D0F4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EJECUCIÓN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2B308A46-7BF3-48CC-B041-89CD2ACB4B75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sz="2850" b="1" i="0">
                <a:solidFill>
                  <a:srgbClr val="123247"/>
                </a:solidFill>
              </a:rPr>
              <a:t>Cuatro comandos cubren análisis, operación y demostración</a:t>
            </a:r>
          </a:p>
        </p:txBody>
      </p:sp>
      <p:sp>
        <p:nvSpPr>
          <p:cNvPr id="3" name="title-rule-14">
            <a:extLst>
              <a:ext uri="{FF2B5EF4-FFF2-40B4-BE49-F238E27FC236}">
                <a16:creationId xmlns:a16="http://schemas.microsoft.com/office/drawing/2014/main" id="{AB698800-0610-4A8D-AD58-2D4039E94CA1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14">
            <a:extLst>
              <a:ext uri="{FF2B5EF4-FFF2-40B4-BE49-F238E27FC236}">
                <a16:creationId xmlns:a16="http://schemas.microsoft.com/office/drawing/2014/main" id="{D1A416AF-CD4D-4CC2-8097-EA59B60F1955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14</a:t>
            </a:r>
          </a:p>
        </p:txBody>
      </p:sp>
      <p:sp>
        <p:nvSpPr>
          <p:cNvPr id="5" name="command-title-0">
            <a:extLst>
              <a:ext uri="{FF2B5EF4-FFF2-40B4-BE49-F238E27FC236}">
                <a16:creationId xmlns:a16="http://schemas.microsoft.com/office/drawing/2014/main" id="{D3E38702-327F-4563-A251-ED11B90FE5B1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1 · Plataforma</a:t>
            </a:r>
          </a:p>
        </p:txBody>
      </p:sp>
      <p:sp>
        <p:nvSpPr>
          <p:cNvPr id="6" name="command-box-0">
            <a:extLst>
              <a:ext uri="{FF2B5EF4-FFF2-40B4-BE49-F238E27FC236}">
                <a16:creationId xmlns:a16="http://schemas.microsoft.com/office/drawing/2014/main" id="{46BFCDD2-C7A4-4444-B73A-A0C1DF4BB9CA}"/>
              </a:ext>
            </a:extLst>
          </p:cNvPr>
          <p:cNvSpPr>
            <a:spLocks noGrp="1"/>
          </p:cNvSpPr>
          <p:nvPr/>
        </p:nvSpPr>
        <p:spPr>
          <a:xfrm>
            <a:off x="3562350" y="1428750"/>
            <a:ext cx="7772400" cy="552450"/>
          </a:xfrm>
          <a:prstGeom prst="roundRect">
            <a:avLst>
              <a:gd name="adj" fmla="val 20690"/>
            </a:avLst>
          </a:prstGeom>
          <a:solidFill>
            <a:srgbClr val="F6FAFC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command-code-0">
            <a:extLst>
              <a:ext uri="{FF2B5EF4-FFF2-40B4-BE49-F238E27FC236}">
                <a16:creationId xmlns:a16="http://schemas.microsoft.com/office/drawing/2014/main" id="{CFC1AC93-FC00-430F-BC93-EBFDDBC2AA93}"/>
              </a:ext>
            </a:extLst>
          </p:cNvPr>
          <p:cNvSpPr>
            <a:spLocks noGrp="1"/>
          </p:cNvSpPr>
          <p:nvPr/>
        </p:nvSpPr>
        <p:spPr>
          <a:xfrm>
            <a:off x="3752850" y="1581150"/>
            <a:ext cx="741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0669B"/>
                </a:solidFill>
              </a:defRPr>
            </a:pPr>
            <a:r>
              <a:rPr sz="1200" b="1" i="0">
                <a:solidFill>
                  <a:srgbClr val="00669B"/>
                </a:solidFill>
              </a:rPr>
              <a:t>.\.venv\Scripts\python.exe -m uvicorn web_app:app --app-dir src --host 127.0.0.1 --port 8000</a:t>
            </a:r>
          </a:p>
        </p:txBody>
      </p:sp>
      <p:sp>
        <p:nvSpPr>
          <p:cNvPr id="8" name="command-desc-0">
            <a:extLst>
              <a:ext uri="{FF2B5EF4-FFF2-40B4-BE49-F238E27FC236}">
                <a16:creationId xmlns:a16="http://schemas.microsoft.com/office/drawing/2014/main" id="{85144BC0-5B4A-4CF7-A124-7D119807A3F4}"/>
              </a:ext>
            </a:extLst>
          </p:cNvPr>
          <p:cNvSpPr>
            <a:spLocks noGrp="1"/>
          </p:cNvSpPr>
          <p:nvPr/>
        </p:nvSpPr>
        <p:spPr>
          <a:xfrm>
            <a:off x="3581400" y="20955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Muestra los casos ya almacenados.</a:t>
            </a:r>
          </a:p>
        </p:txBody>
      </p:sp>
      <p:sp>
        <p:nvSpPr>
          <p:cNvPr id="9" name="command-title-1">
            <a:extLst>
              <a:ext uri="{FF2B5EF4-FFF2-40B4-BE49-F238E27FC236}">
                <a16:creationId xmlns:a16="http://schemas.microsoft.com/office/drawing/2014/main" id="{9B2D4484-0338-47D3-A196-E5566BC6D5AC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2 · Monitoreo continuo</a:t>
            </a:r>
          </a:p>
        </p:txBody>
      </p:sp>
      <p:sp>
        <p:nvSpPr>
          <p:cNvPr id="10" name="command-box-1">
            <a:extLst>
              <a:ext uri="{FF2B5EF4-FFF2-40B4-BE49-F238E27FC236}">
                <a16:creationId xmlns:a16="http://schemas.microsoft.com/office/drawing/2014/main" id="{C478AD76-F644-4879-98A7-91A8EA08B464}"/>
              </a:ext>
            </a:extLst>
          </p:cNvPr>
          <p:cNvSpPr>
            <a:spLocks noGrp="1"/>
          </p:cNvSpPr>
          <p:nvPr/>
        </p:nvSpPr>
        <p:spPr>
          <a:xfrm>
            <a:off x="3562350" y="2609850"/>
            <a:ext cx="7772400" cy="552450"/>
          </a:xfrm>
          <a:prstGeom prst="roundRect">
            <a:avLst>
              <a:gd name="adj" fmla="val 20690"/>
            </a:avLst>
          </a:prstGeom>
          <a:solidFill>
            <a:srgbClr val="F6FAFC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command-code-1">
            <a:extLst>
              <a:ext uri="{FF2B5EF4-FFF2-40B4-BE49-F238E27FC236}">
                <a16:creationId xmlns:a16="http://schemas.microsoft.com/office/drawing/2014/main" id="{F6626FC2-E25B-4001-989D-613AB087ED92}"/>
              </a:ext>
            </a:extLst>
          </p:cNvPr>
          <p:cNvSpPr>
            <a:spLocks noGrp="1"/>
          </p:cNvSpPr>
          <p:nvPr/>
        </p:nvSpPr>
        <p:spPr>
          <a:xfrm>
            <a:off x="3752850" y="2762250"/>
            <a:ext cx="741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0669B"/>
                </a:solidFill>
              </a:defRPr>
            </a:pPr>
            <a:r>
              <a:rPr sz="1200" b="1" i="0">
                <a:solidFill>
                  <a:srgbClr val="00669B"/>
                </a:solidFill>
              </a:rPr>
              <a:t>.\run_monitor.ps1 -Source postgres -Mode loop</a:t>
            </a:r>
          </a:p>
        </p:txBody>
      </p:sp>
      <p:sp>
        <p:nvSpPr>
          <p:cNvPr id="12" name="command-desc-1">
            <a:extLst>
              <a:ext uri="{FF2B5EF4-FFF2-40B4-BE49-F238E27FC236}">
                <a16:creationId xmlns:a16="http://schemas.microsoft.com/office/drawing/2014/main" id="{2197EE52-AC8E-4E71-B8A3-246303028C2A}"/>
              </a:ext>
            </a:extLst>
          </p:cNvPr>
          <p:cNvSpPr>
            <a:spLocks noGrp="1"/>
          </p:cNvSpPr>
          <p:nvPr/>
        </p:nvSpPr>
        <p:spPr>
          <a:xfrm>
            <a:off x="3581400" y="3276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Consulta eventos nuevos y actualiza la bandeja.</a:t>
            </a:r>
          </a:p>
        </p:txBody>
      </p:sp>
      <p:sp>
        <p:nvSpPr>
          <p:cNvPr id="13" name="command-title-2">
            <a:extLst>
              <a:ext uri="{FF2B5EF4-FFF2-40B4-BE49-F238E27FC236}">
                <a16:creationId xmlns:a16="http://schemas.microsoft.com/office/drawing/2014/main" id="{ED96F676-B3FF-4C43-A4F2-5586CCBE3D64}"/>
              </a:ext>
            </a:extLst>
          </p:cNvPr>
          <p:cNvSpPr>
            <a:spLocks noGrp="1"/>
          </p:cNvSpPr>
          <p:nvPr/>
        </p:nvSpPr>
        <p:spPr>
          <a:xfrm>
            <a:off x="647700" y="3867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3 · Últimos 500 del día</a:t>
            </a:r>
          </a:p>
        </p:txBody>
      </p:sp>
      <p:sp>
        <p:nvSpPr>
          <p:cNvPr id="14" name="command-box-2">
            <a:extLst>
              <a:ext uri="{FF2B5EF4-FFF2-40B4-BE49-F238E27FC236}">
                <a16:creationId xmlns:a16="http://schemas.microsoft.com/office/drawing/2014/main" id="{AD595F46-7ED1-4908-BB67-AAE947D8ACD0}"/>
              </a:ext>
            </a:extLst>
          </p:cNvPr>
          <p:cNvSpPr>
            <a:spLocks noGrp="1"/>
          </p:cNvSpPr>
          <p:nvPr/>
        </p:nvSpPr>
        <p:spPr>
          <a:xfrm>
            <a:off x="3562350" y="3790950"/>
            <a:ext cx="7772400" cy="552450"/>
          </a:xfrm>
          <a:prstGeom prst="roundRect">
            <a:avLst>
              <a:gd name="adj" fmla="val 20690"/>
            </a:avLst>
          </a:prstGeom>
          <a:solidFill>
            <a:srgbClr val="F6FAFC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command-code-2">
            <a:extLst>
              <a:ext uri="{FF2B5EF4-FFF2-40B4-BE49-F238E27FC236}">
                <a16:creationId xmlns:a16="http://schemas.microsoft.com/office/drawing/2014/main" id="{579DE22D-9BE4-4A73-85AF-F29C396D3639}"/>
              </a:ext>
            </a:extLst>
          </p:cNvPr>
          <p:cNvSpPr>
            <a:spLocks noGrp="1"/>
          </p:cNvSpPr>
          <p:nvPr/>
        </p:nvSpPr>
        <p:spPr>
          <a:xfrm>
            <a:off x="3752850" y="3943350"/>
            <a:ext cx="741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0669B"/>
                </a:solidFill>
              </a:defRPr>
            </a:pPr>
            <a:r>
              <a:rPr sz="1200" b="1" i="0">
                <a:solidFill>
                  <a:srgbClr val="00669B"/>
                </a:solidFill>
              </a:rPr>
              <a:t>.\run_live_today.ps1 -Limit 500 -Port 8001</a:t>
            </a:r>
          </a:p>
        </p:txBody>
      </p:sp>
      <p:sp>
        <p:nvSpPr>
          <p:cNvPr id="16" name="command-desc-2">
            <a:extLst>
              <a:ext uri="{FF2B5EF4-FFF2-40B4-BE49-F238E27FC236}">
                <a16:creationId xmlns:a16="http://schemas.microsoft.com/office/drawing/2014/main" id="{38AC3177-8AD0-43A0-8C5C-F60C8DFE66C6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Prueba aislada sin alterar el checkpoint principal.</a:t>
            </a:r>
          </a:p>
        </p:txBody>
      </p:sp>
      <p:sp>
        <p:nvSpPr>
          <p:cNvPr id="17" name="command-title-3">
            <a:extLst>
              <a:ext uri="{FF2B5EF4-FFF2-40B4-BE49-F238E27FC236}">
                <a16:creationId xmlns:a16="http://schemas.microsoft.com/office/drawing/2014/main" id="{E31F60F7-8ED4-46C2-BF30-4183926D2733}"/>
              </a:ext>
            </a:extLst>
          </p:cNvPr>
          <p:cNvSpPr>
            <a:spLocks noGrp="1"/>
          </p:cNvSpPr>
          <p:nvPr/>
        </p:nvSpPr>
        <p:spPr>
          <a:xfrm>
            <a:off x="647700" y="5048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4 · Análisis histórico</a:t>
            </a:r>
          </a:p>
        </p:txBody>
      </p:sp>
      <p:sp>
        <p:nvSpPr>
          <p:cNvPr id="18" name="command-box-3">
            <a:extLst>
              <a:ext uri="{FF2B5EF4-FFF2-40B4-BE49-F238E27FC236}">
                <a16:creationId xmlns:a16="http://schemas.microsoft.com/office/drawing/2014/main" id="{F249CDFC-F592-4FE8-9208-B7B19AB85FD8}"/>
              </a:ext>
            </a:extLst>
          </p:cNvPr>
          <p:cNvSpPr>
            <a:spLocks noGrp="1"/>
          </p:cNvSpPr>
          <p:nvPr/>
        </p:nvSpPr>
        <p:spPr>
          <a:xfrm>
            <a:off x="3562350" y="4972050"/>
            <a:ext cx="7772400" cy="552450"/>
          </a:xfrm>
          <a:prstGeom prst="roundRect">
            <a:avLst>
              <a:gd name="adj" fmla="val 20690"/>
            </a:avLst>
          </a:prstGeom>
          <a:solidFill>
            <a:srgbClr val="F6FAFC"/>
          </a:solidFill>
          <a:ln w="9525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command-code-3">
            <a:extLst>
              <a:ext uri="{FF2B5EF4-FFF2-40B4-BE49-F238E27FC236}">
                <a16:creationId xmlns:a16="http://schemas.microsoft.com/office/drawing/2014/main" id="{3578A693-21EE-4567-95E1-43EBF7275443}"/>
              </a:ext>
            </a:extLst>
          </p:cNvPr>
          <p:cNvSpPr>
            <a:spLocks noGrp="1"/>
          </p:cNvSpPr>
          <p:nvPr/>
        </p:nvSpPr>
        <p:spPr>
          <a:xfrm>
            <a:off x="3752850" y="5124450"/>
            <a:ext cx="741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0669B"/>
                </a:solidFill>
              </a:defRPr>
            </a:pPr>
            <a:r>
              <a:rPr sz="1200" b="1" i="0">
                <a:solidFill>
                  <a:srgbClr val="00669B"/>
                </a:solidFill>
              </a:rPr>
              <a:t>.\run_analysis.ps1</a:t>
            </a:r>
          </a:p>
        </p:txBody>
      </p:sp>
      <p:sp>
        <p:nvSpPr>
          <p:cNvPr id="20" name="command-desc-3">
            <a:extLst>
              <a:ext uri="{FF2B5EF4-FFF2-40B4-BE49-F238E27FC236}">
                <a16:creationId xmlns:a16="http://schemas.microsoft.com/office/drawing/2014/main" id="{7E3BEBF3-19D9-42EC-995D-9CB18A069720}"/>
              </a:ext>
            </a:extLst>
          </p:cNvPr>
          <p:cNvSpPr>
            <a:spLocks noGrp="1"/>
          </p:cNvSpPr>
          <p:nvPr/>
        </p:nvSpPr>
        <p:spPr>
          <a:xfrm>
            <a:off x="3581400" y="56388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87287"/>
                </a:solidFill>
              </a:defRPr>
            </a:pPr>
            <a:r>
              <a:rPr sz="1200" b="0" i="0">
                <a:solidFill>
                  <a:srgbClr val="587287"/>
                </a:solidFill>
              </a:rPr>
              <a:t>Regenera normalización, línea base, alertas y reporte.</a:t>
            </a:r>
          </a:p>
        </p:txBody>
      </p:sp>
      <p:sp>
        <p:nvSpPr>
          <p:cNvPr id="21" name="footer-2qn1jh">
            <a:extLst>
              <a:ext uri="{FF2B5EF4-FFF2-40B4-BE49-F238E27FC236}">
                <a16:creationId xmlns:a16="http://schemas.microsoft.com/office/drawing/2014/main" id="{BC442726-73B1-43BD-8C0C-9D964346449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3792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-15">
            <a:extLst>
              <a:ext uri="{FF2B5EF4-FFF2-40B4-BE49-F238E27FC236}">
                <a16:creationId xmlns:a16="http://schemas.microsoft.com/office/drawing/2014/main" id="{095DBF2F-5B08-4A08-96DF-DF61FC72BAA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0669B"/>
                </a:solidFill>
              </a:defRPr>
            </a:pPr>
            <a:r>
              <a:rPr sz="1050" b="1" i="0">
                <a:solidFill>
                  <a:srgbClr val="00669B"/>
                </a:solidFill>
              </a:rPr>
              <a:t>TECNOLOGÍAS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B996B371-5FF0-475C-94FE-DEFD8D23BFB9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23247"/>
                </a:solidFill>
              </a:defRPr>
            </a:pPr>
            <a:r>
              <a:rPr lang="es-MX" sz="2850" b="1" i="0" dirty="0">
                <a:solidFill>
                  <a:srgbClr val="123247"/>
                </a:solidFill>
              </a:rPr>
              <a:t>Stack </a:t>
            </a:r>
            <a:r>
              <a:rPr lang="es-MX" sz="2850" b="1" i="0" dirty="0" err="1">
                <a:solidFill>
                  <a:srgbClr val="123247"/>
                </a:solidFill>
              </a:rPr>
              <a:t>Tecnologico</a:t>
            </a:r>
            <a:endParaRPr sz="2850" b="1" i="0" dirty="0">
              <a:solidFill>
                <a:srgbClr val="123247"/>
              </a:solidFill>
            </a:endParaRPr>
          </a:p>
        </p:txBody>
      </p:sp>
      <p:sp>
        <p:nvSpPr>
          <p:cNvPr id="3" name="title-rule-15">
            <a:extLst>
              <a:ext uri="{FF2B5EF4-FFF2-40B4-BE49-F238E27FC236}">
                <a16:creationId xmlns:a16="http://schemas.microsoft.com/office/drawing/2014/main" id="{CFECBA22-471A-46F8-8066-F924BC75ABA5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11087100" cy="19050"/>
          </a:xfrm>
          <a:prstGeom prst="rect">
            <a:avLst/>
          </a:prstGeom>
          <a:solidFill>
            <a:srgbClr val="C9DAE5"/>
          </a:solidFill>
          <a:ln w="0">
            <a:solidFill>
              <a:srgbClr val="C9DA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lide-number-15">
            <a:extLst>
              <a:ext uri="{FF2B5EF4-FFF2-40B4-BE49-F238E27FC236}">
                <a16:creationId xmlns:a16="http://schemas.microsoft.com/office/drawing/2014/main" id="{06AB47A3-E347-4448-B699-8C78641874E9}"/>
              </a:ext>
            </a:extLst>
          </p:cNvPr>
          <p:cNvSpPr>
            <a:spLocks noGrp="1"/>
          </p:cNvSpPr>
          <p:nvPr/>
        </p:nvSpPr>
        <p:spPr>
          <a:xfrm>
            <a:off x="10839450" y="3333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587287"/>
                </a:solidFill>
              </a:defRPr>
            </a:pPr>
            <a:r>
              <a:rPr sz="1050" b="1" i="0">
                <a:solidFill>
                  <a:srgbClr val="587287"/>
                </a:solidFill>
              </a:rPr>
              <a:t>15</a:t>
            </a:r>
          </a:p>
        </p:txBody>
      </p:sp>
      <p:sp>
        <p:nvSpPr>
          <p:cNvPr id="5" name="tech-accent-0">
            <a:extLst>
              <a:ext uri="{FF2B5EF4-FFF2-40B4-BE49-F238E27FC236}">
                <a16:creationId xmlns:a16="http://schemas.microsoft.com/office/drawing/2014/main" id="{5792827E-8BA9-4470-B6C4-4823D9E51DCB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514350" cy="47625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ch-name-0">
            <a:extLst>
              <a:ext uri="{FF2B5EF4-FFF2-40B4-BE49-F238E27FC236}">
                <a16:creationId xmlns:a16="http://schemas.microsoft.com/office/drawing/2014/main" id="{405DEE5A-70B3-4626-AD6F-A673315AA36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Python 3.11+</a:t>
            </a:r>
          </a:p>
        </p:txBody>
      </p:sp>
      <p:sp>
        <p:nvSpPr>
          <p:cNvPr id="7" name="tech-desc-0">
            <a:extLst>
              <a:ext uri="{FF2B5EF4-FFF2-40B4-BE49-F238E27FC236}">
                <a16:creationId xmlns:a16="http://schemas.microsoft.com/office/drawing/2014/main" id="{0094D8B8-F3E7-4D5B-A113-3E8D4E42DC10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procesamiento y reglas</a:t>
            </a:r>
          </a:p>
        </p:txBody>
      </p:sp>
      <p:sp>
        <p:nvSpPr>
          <p:cNvPr id="8" name="tech-accent-1">
            <a:extLst>
              <a:ext uri="{FF2B5EF4-FFF2-40B4-BE49-F238E27FC236}">
                <a16:creationId xmlns:a16="http://schemas.microsoft.com/office/drawing/2014/main" id="{0206A6C1-11E5-40A5-A40D-7F564EB72004}"/>
              </a:ext>
            </a:extLst>
          </p:cNvPr>
          <p:cNvSpPr>
            <a:spLocks noGrp="1"/>
          </p:cNvSpPr>
          <p:nvPr/>
        </p:nvSpPr>
        <p:spPr>
          <a:xfrm>
            <a:off x="4400550" y="1771650"/>
            <a:ext cx="514350" cy="47625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ch-name-1">
            <a:extLst>
              <a:ext uri="{FF2B5EF4-FFF2-40B4-BE49-F238E27FC236}">
                <a16:creationId xmlns:a16="http://schemas.microsoft.com/office/drawing/2014/main" id="{914853DC-6B72-46C6-ACDE-526A262CDBE1}"/>
              </a:ext>
            </a:extLst>
          </p:cNvPr>
          <p:cNvSpPr>
            <a:spLocks noGrp="1"/>
          </p:cNvSpPr>
          <p:nvPr/>
        </p:nvSpPr>
        <p:spPr>
          <a:xfrm>
            <a:off x="4400550" y="19621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PostgreSQL + psycopg</a:t>
            </a:r>
          </a:p>
        </p:txBody>
      </p:sp>
      <p:sp>
        <p:nvSpPr>
          <p:cNvPr id="10" name="tech-desc-1">
            <a:extLst>
              <a:ext uri="{FF2B5EF4-FFF2-40B4-BE49-F238E27FC236}">
                <a16:creationId xmlns:a16="http://schemas.microsoft.com/office/drawing/2014/main" id="{FA8DC8E7-DACC-4E2D-80CF-8A93F22B4726}"/>
              </a:ext>
            </a:extLst>
          </p:cNvPr>
          <p:cNvSpPr>
            <a:spLocks noGrp="1"/>
          </p:cNvSpPr>
          <p:nvPr/>
        </p:nvSpPr>
        <p:spPr>
          <a:xfrm>
            <a:off x="4400550" y="23431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fuente institucional read only</a:t>
            </a:r>
          </a:p>
        </p:txBody>
      </p:sp>
      <p:sp>
        <p:nvSpPr>
          <p:cNvPr id="11" name="tech-accent-2">
            <a:extLst>
              <a:ext uri="{FF2B5EF4-FFF2-40B4-BE49-F238E27FC236}">
                <a16:creationId xmlns:a16="http://schemas.microsoft.com/office/drawing/2014/main" id="{FD2237D1-6E13-4BDE-B744-9A676FFFE2FF}"/>
              </a:ext>
            </a:extLst>
          </p:cNvPr>
          <p:cNvSpPr>
            <a:spLocks noGrp="1"/>
          </p:cNvSpPr>
          <p:nvPr/>
        </p:nvSpPr>
        <p:spPr>
          <a:xfrm>
            <a:off x="8115300" y="1771650"/>
            <a:ext cx="514350" cy="47625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ch-name-2">
            <a:extLst>
              <a:ext uri="{FF2B5EF4-FFF2-40B4-BE49-F238E27FC236}">
                <a16:creationId xmlns:a16="http://schemas.microsoft.com/office/drawing/2014/main" id="{AC3E1187-464B-4B0A-8351-6474F69037CB}"/>
              </a:ext>
            </a:extLst>
          </p:cNvPr>
          <p:cNvSpPr>
            <a:spLocks noGrp="1"/>
          </p:cNvSpPr>
          <p:nvPr/>
        </p:nvSpPr>
        <p:spPr>
          <a:xfrm>
            <a:off x="8115300" y="19621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SQLite</a:t>
            </a:r>
          </a:p>
        </p:txBody>
      </p:sp>
      <p:sp>
        <p:nvSpPr>
          <p:cNvPr id="13" name="tech-desc-2">
            <a:extLst>
              <a:ext uri="{FF2B5EF4-FFF2-40B4-BE49-F238E27FC236}">
                <a16:creationId xmlns:a16="http://schemas.microsoft.com/office/drawing/2014/main" id="{A9D969EB-377E-472D-A9C4-8377B4206B00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estado, cooldown y checkpoint</a:t>
            </a:r>
          </a:p>
        </p:txBody>
      </p:sp>
      <p:sp>
        <p:nvSpPr>
          <p:cNvPr id="14" name="tech-accent-3">
            <a:extLst>
              <a:ext uri="{FF2B5EF4-FFF2-40B4-BE49-F238E27FC236}">
                <a16:creationId xmlns:a16="http://schemas.microsoft.com/office/drawing/2014/main" id="{79F92841-FA8F-4529-BB73-1EE0D1B7BDB6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514350" cy="47625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ch-name-3">
            <a:extLst>
              <a:ext uri="{FF2B5EF4-FFF2-40B4-BE49-F238E27FC236}">
                <a16:creationId xmlns:a16="http://schemas.microsoft.com/office/drawing/2014/main" id="{19411D90-3CDC-46FC-8982-422AF60468A6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FastAPI + Uvicorn</a:t>
            </a:r>
          </a:p>
        </p:txBody>
      </p:sp>
      <p:sp>
        <p:nvSpPr>
          <p:cNvPr id="16" name="tech-desc-3">
            <a:extLst>
              <a:ext uri="{FF2B5EF4-FFF2-40B4-BE49-F238E27FC236}">
                <a16:creationId xmlns:a16="http://schemas.microsoft.com/office/drawing/2014/main" id="{5A9018F1-DEC2-4D72-BA84-CA973B77B45F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API y servidor local</a:t>
            </a:r>
          </a:p>
        </p:txBody>
      </p:sp>
      <p:sp>
        <p:nvSpPr>
          <p:cNvPr id="17" name="tech-accent-4">
            <a:extLst>
              <a:ext uri="{FF2B5EF4-FFF2-40B4-BE49-F238E27FC236}">
                <a16:creationId xmlns:a16="http://schemas.microsoft.com/office/drawing/2014/main" id="{4398B545-3E66-4F12-8825-751B71423C73}"/>
              </a:ext>
            </a:extLst>
          </p:cNvPr>
          <p:cNvSpPr>
            <a:spLocks noGrp="1"/>
          </p:cNvSpPr>
          <p:nvPr/>
        </p:nvSpPr>
        <p:spPr>
          <a:xfrm>
            <a:off x="4400550" y="3086100"/>
            <a:ext cx="514350" cy="47625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ch-name-4">
            <a:extLst>
              <a:ext uri="{FF2B5EF4-FFF2-40B4-BE49-F238E27FC236}">
                <a16:creationId xmlns:a16="http://schemas.microsoft.com/office/drawing/2014/main" id="{F7B86E87-D3CD-4538-A4F4-55EA6E7606C6}"/>
              </a:ext>
            </a:extLst>
          </p:cNvPr>
          <p:cNvSpPr>
            <a:spLocks noGrp="1"/>
          </p:cNvSpPr>
          <p:nvPr/>
        </p:nvSpPr>
        <p:spPr>
          <a:xfrm>
            <a:off x="4400550" y="32766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Jinja2 + HTML/CSS/JS</a:t>
            </a:r>
          </a:p>
        </p:txBody>
      </p:sp>
      <p:sp>
        <p:nvSpPr>
          <p:cNvPr id="19" name="tech-desc-4">
            <a:extLst>
              <a:ext uri="{FF2B5EF4-FFF2-40B4-BE49-F238E27FC236}">
                <a16:creationId xmlns:a16="http://schemas.microsoft.com/office/drawing/2014/main" id="{A7ACD065-7D7B-4062-9EFC-FAB9DCFA9E4B}"/>
              </a:ext>
            </a:extLst>
          </p:cNvPr>
          <p:cNvSpPr>
            <a:spLocks noGrp="1"/>
          </p:cNvSpPr>
          <p:nvPr/>
        </p:nvSpPr>
        <p:spPr>
          <a:xfrm>
            <a:off x="4400550" y="36576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interfaz sin frontend separado</a:t>
            </a:r>
          </a:p>
        </p:txBody>
      </p:sp>
      <p:sp>
        <p:nvSpPr>
          <p:cNvPr id="20" name="tech-accent-5">
            <a:extLst>
              <a:ext uri="{FF2B5EF4-FFF2-40B4-BE49-F238E27FC236}">
                <a16:creationId xmlns:a16="http://schemas.microsoft.com/office/drawing/2014/main" id="{EF2E1833-5C10-4934-A402-7990DEAD8D0F}"/>
              </a:ext>
            </a:extLst>
          </p:cNvPr>
          <p:cNvSpPr>
            <a:spLocks noGrp="1"/>
          </p:cNvSpPr>
          <p:nvPr/>
        </p:nvSpPr>
        <p:spPr>
          <a:xfrm>
            <a:off x="8115300" y="3086100"/>
            <a:ext cx="514350" cy="47625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ch-name-5">
            <a:extLst>
              <a:ext uri="{FF2B5EF4-FFF2-40B4-BE49-F238E27FC236}">
                <a16:creationId xmlns:a16="http://schemas.microsoft.com/office/drawing/2014/main" id="{5FA54DDE-46B6-41E0-A00C-CF8464B2DA13}"/>
              </a:ext>
            </a:extLst>
          </p:cNvPr>
          <p:cNvSpPr>
            <a:spLocks noGrp="1"/>
          </p:cNvSpPr>
          <p:nvPr/>
        </p:nvSpPr>
        <p:spPr>
          <a:xfrm>
            <a:off x="8115300" y="32766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Pydantic</a:t>
            </a:r>
          </a:p>
        </p:txBody>
      </p:sp>
      <p:sp>
        <p:nvSpPr>
          <p:cNvPr id="22" name="tech-desc-5">
            <a:extLst>
              <a:ext uri="{FF2B5EF4-FFF2-40B4-BE49-F238E27FC236}">
                <a16:creationId xmlns:a16="http://schemas.microsoft.com/office/drawing/2014/main" id="{958A654B-CF46-4942-9829-AC3354BE6F8E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validación de solicitudes</a:t>
            </a:r>
          </a:p>
        </p:txBody>
      </p:sp>
      <p:sp>
        <p:nvSpPr>
          <p:cNvPr id="23" name="tech-accent-6">
            <a:extLst>
              <a:ext uri="{FF2B5EF4-FFF2-40B4-BE49-F238E27FC236}">
                <a16:creationId xmlns:a16="http://schemas.microsoft.com/office/drawing/2014/main" id="{FA5F92F4-E1A7-4E24-8D63-B5D419D781F5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514350" cy="47625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ch-name-6">
            <a:extLst>
              <a:ext uri="{FF2B5EF4-FFF2-40B4-BE49-F238E27FC236}">
                <a16:creationId xmlns:a16="http://schemas.microsoft.com/office/drawing/2014/main" id="{8D56A6CF-2554-4E26-8A3C-2B6343999B97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HMAC-SHA256</a:t>
            </a:r>
          </a:p>
        </p:txBody>
      </p:sp>
      <p:sp>
        <p:nvSpPr>
          <p:cNvPr id="25" name="tech-desc-6">
            <a:extLst>
              <a:ext uri="{FF2B5EF4-FFF2-40B4-BE49-F238E27FC236}">
                <a16:creationId xmlns:a16="http://schemas.microsoft.com/office/drawing/2014/main" id="{88A13848-218E-4DA6-B4B1-2BFF683AEFAE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pseudonimización</a:t>
            </a:r>
          </a:p>
        </p:txBody>
      </p:sp>
      <p:sp>
        <p:nvSpPr>
          <p:cNvPr id="26" name="tech-accent-7">
            <a:extLst>
              <a:ext uri="{FF2B5EF4-FFF2-40B4-BE49-F238E27FC236}">
                <a16:creationId xmlns:a16="http://schemas.microsoft.com/office/drawing/2014/main" id="{E18DC847-54A1-447D-A758-7C14F8CDE14B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514350" cy="47625"/>
          </a:xfrm>
          <a:prstGeom prst="rect">
            <a:avLst/>
          </a:prstGeom>
          <a:solidFill>
            <a:srgbClr val="F47A20"/>
          </a:solidFill>
          <a:ln w="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ch-name-7">
            <a:extLst>
              <a:ext uri="{FF2B5EF4-FFF2-40B4-BE49-F238E27FC236}">
                <a16:creationId xmlns:a16="http://schemas.microsoft.com/office/drawing/2014/main" id="{03894765-DD8C-432B-A964-2CFDCD587139}"/>
              </a:ext>
            </a:extLst>
          </p:cNvPr>
          <p:cNvSpPr>
            <a:spLocks noGrp="1"/>
          </p:cNvSpPr>
          <p:nvPr/>
        </p:nvSpPr>
        <p:spPr>
          <a:xfrm>
            <a:off x="4400550" y="45910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pytest + Ruff</a:t>
            </a:r>
          </a:p>
        </p:txBody>
      </p:sp>
      <p:sp>
        <p:nvSpPr>
          <p:cNvPr id="28" name="tech-desc-7">
            <a:extLst>
              <a:ext uri="{FF2B5EF4-FFF2-40B4-BE49-F238E27FC236}">
                <a16:creationId xmlns:a16="http://schemas.microsoft.com/office/drawing/2014/main" id="{E71DCC4F-0456-4EE2-93DD-B41350D2555E}"/>
              </a:ext>
            </a:extLst>
          </p:cNvPr>
          <p:cNvSpPr>
            <a:spLocks noGrp="1"/>
          </p:cNvSpPr>
          <p:nvPr/>
        </p:nvSpPr>
        <p:spPr>
          <a:xfrm>
            <a:off x="4400550" y="49720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pruebas y calidad</a:t>
            </a:r>
          </a:p>
        </p:txBody>
      </p:sp>
      <p:sp>
        <p:nvSpPr>
          <p:cNvPr id="29" name="tech-accent-8">
            <a:extLst>
              <a:ext uri="{FF2B5EF4-FFF2-40B4-BE49-F238E27FC236}">
                <a16:creationId xmlns:a16="http://schemas.microsoft.com/office/drawing/2014/main" id="{D47C8FF8-DDD5-458A-AFC5-0E23D89B65D7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514350" cy="47625"/>
          </a:xfrm>
          <a:prstGeom prst="rect">
            <a:avLst/>
          </a:prstGeom>
          <a:solidFill>
            <a:srgbClr val="00669B"/>
          </a:solidFill>
          <a:ln w="0">
            <a:solidFill>
              <a:srgbClr val="0066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ch-name-8">
            <a:extLst>
              <a:ext uri="{FF2B5EF4-FFF2-40B4-BE49-F238E27FC236}">
                <a16:creationId xmlns:a16="http://schemas.microsoft.com/office/drawing/2014/main" id="{6EFF7422-4FE5-4E1B-9354-52434D56C90A}"/>
              </a:ext>
            </a:extLst>
          </p:cNvPr>
          <p:cNvSpPr>
            <a:spLocks noGrp="1"/>
          </p:cNvSpPr>
          <p:nvPr/>
        </p:nvSpPr>
        <p:spPr>
          <a:xfrm>
            <a:off x="8115300" y="45910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23247"/>
                </a:solidFill>
              </a:defRPr>
            </a:pPr>
            <a:r>
              <a:rPr sz="1575" b="1" i="0">
                <a:solidFill>
                  <a:srgbClr val="123247"/>
                </a:solidFill>
              </a:rPr>
              <a:t>PowerShell</a:t>
            </a:r>
          </a:p>
        </p:txBody>
      </p:sp>
      <p:sp>
        <p:nvSpPr>
          <p:cNvPr id="31" name="tech-desc-8">
            <a:extLst>
              <a:ext uri="{FF2B5EF4-FFF2-40B4-BE49-F238E27FC236}">
                <a16:creationId xmlns:a16="http://schemas.microsoft.com/office/drawing/2014/main" id="{76B1E57E-8465-48D3-9342-17D6032F0A8E}"/>
              </a:ext>
            </a:extLst>
          </p:cNvPr>
          <p:cNvSpPr>
            <a:spLocks noGrp="1"/>
          </p:cNvSpPr>
          <p:nvPr/>
        </p:nvSpPr>
        <p:spPr>
          <a:xfrm>
            <a:off x="8115300" y="49720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87287"/>
                </a:solidFill>
              </a:defRPr>
            </a:pPr>
            <a:r>
              <a:rPr sz="1275" b="0" i="0">
                <a:solidFill>
                  <a:srgbClr val="587287"/>
                </a:solidFill>
              </a:rPr>
              <a:t>automatización en Windows</a:t>
            </a:r>
          </a:p>
        </p:txBody>
      </p:sp>
      <p:sp>
        <p:nvSpPr>
          <p:cNvPr id="32" name="tech-exclusion">
            <a:extLst>
              <a:ext uri="{FF2B5EF4-FFF2-40B4-BE49-F238E27FC236}">
                <a16:creationId xmlns:a16="http://schemas.microsoft.com/office/drawing/2014/main" id="{AACD6068-D9C2-4903-A7F3-943DA7CF240C}"/>
              </a:ext>
            </a:extLst>
          </p:cNvPr>
          <p:cNvSpPr>
            <a:spLocks noGrp="1"/>
          </p:cNvSpPr>
          <p:nvPr/>
        </p:nvSpPr>
        <p:spPr>
          <a:xfrm>
            <a:off x="1085850" y="5734050"/>
            <a:ext cx="10001250" cy="457200"/>
          </a:xfrm>
          <a:prstGeom prst="roundRect">
            <a:avLst>
              <a:gd name="adj" fmla="val 25000"/>
            </a:avLst>
          </a:prstGeom>
          <a:solidFill>
            <a:srgbClr val="EAF5FA"/>
          </a:solidFill>
          <a:ln w="9525">
            <a:solidFill>
              <a:srgbClr val="EAF5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ch-exclusion-text">
            <a:extLst>
              <a:ext uri="{FF2B5EF4-FFF2-40B4-BE49-F238E27FC236}">
                <a16:creationId xmlns:a16="http://schemas.microsoft.com/office/drawing/2014/main" id="{31CFF75D-A287-4996-851F-89ECA12BE588}"/>
              </a:ext>
            </a:extLst>
          </p:cNvPr>
          <p:cNvSpPr>
            <a:spLocks noGrp="1"/>
          </p:cNvSpPr>
          <p:nvPr/>
        </p:nvSpPr>
        <p:spPr>
          <a:xfrm>
            <a:off x="1333500" y="5867400"/>
            <a:ext cx="950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0669B"/>
                </a:solidFill>
              </a:defRPr>
            </a:pPr>
            <a:r>
              <a:rPr sz="1350" b="1" i="0">
                <a:solidFill>
                  <a:srgbClr val="00669B"/>
                </a:solidFill>
              </a:rPr>
              <a:t>Sin machine learning, Docker, Redis, React ni servicios externos: el MVP permanece explicable y mantenible.</a:t>
            </a:r>
          </a:p>
        </p:txBody>
      </p:sp>
      <p:sp>
        <p:nvSpPr>
          <p:cNvPr id="34" name="footer-0yt8bd">
            <a:extLst>
              <a:ext uri="{FF2B5EF4-FFF2-40B4-BE49-F238E27FC236}">
                <a16:creationId xmlns:a16="http://schemas.microsoft.com/office/drawing/2014/main" id="{0A615CB8-4013-40AD-8A9A-C3D88FECF4BC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 i="0">
                <a:solidFill>
                  <a:srgbClr val="587287"/>
                </a:solidFill>
              </a:defRPr>
            </a:pPr>
            <a:r>
              <a:rPr sz="900" b="0" i="0">
                <a:solidFill>
                  <a:srgbClr val="587287"/>
                </a:solidFill>
              </a:rPr>
              <a:t>Prácticum 2.2 · DGTITD · Jean Carlos Cuenca</a:t>
            </a:r>
          </a:p>
        </p:txBody>
      </p:sp>
    </p:spTree>
    <p:extLst>
      <p:ext uri="{BB962C8B-B14F-4D97-AF65-F5344CB8AC3E}">
        <p14:creationId xmlns:p14="http://schemas.microsoft.com/office/powerpoint/2010/main" val="1033227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sing-eyebrow">
            <a:extLst>
              <a:ext uri="{FF2B5EF4-FFF2-40B4-BE49-F238E27FC236}">
                <a16:creationId xmlns:a16="http://schemas.microsoft.com/office/drawing/2014/main" id="{2F77A8C7-7E58-4DFC-BF5E-CBA38442BA53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1A6C8"/>
                </a:solidFill>
              </a:defRPr>
            </a:pPr>
            <a:r>
              <a:rPr sz="1200" b="1" i="0">
                <a:solidFill>
                  <a:srgbClr val="31A6C8"/>
                </a:solidFill>
              </a:rPr>
              <a:t>RESULTADO DEL RETO</a:t>
            </a:r>
          </a:p>
        </p:txBody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9A7B6437-E049-4559-B6A0-1A0808BE4E5F}"/>
              </a:ext>
            </a:extLst>
          </p:cNvPr>
          <p:cNvSpPr>
            <a:spLocks noGrp="1"/>
          </p:cNvSpPr>
          <p:nvPr/>
        </p:nvSpPr>
        <p:spPr>
          <a:xfrm>
            <a:off x="666750" y="1181100"/>
            <a:ext cx="8096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FFFFFF"/>
                </a:solidFill>
              </a:defRPr>
            </a:pPr>
            <a:endParaRPr sz="3450" b="1" i="0" dirty="0">
              <a:solidFill>
                <a:srgbClr val="FFFFFF"/>
              </a:solidFill>
            </a:endParaRPr>
          </a:p>
        </p:txBody>
      </p:sp>
      <p:sp>
        <p:nvSpPr>
          <p:cNvPr id="3" name="closing-copy">
            <a:extLst>
              <a:ext uri="{FF2B5EF4-FFF2-40B4-BE49-F238E27FC236}">
                <a16:creationId xmlns:a16="http://schemas.microsoft.com/office/drawing/2014/main" id="{A5E1C3AF-6A71-4BF5-86C3-8640D8B82372}"/>
              </a:ext>
            </a:extLst>
          </p:cNvPr>
          <p:cNvSpPr>
            <a:spLocks noGrp="1"/>
          </p:cNvSpPr>
          <p:nvPr/>
        </p:nvSpPr>
        <p:spPr>
          <a:xfrm>
            <a:off x="1786398" y="2813255"/>
            <a:ext cx="876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0" i="0">
                <a:solidFill>
                  <a:srgbClr val="D8EAF3"/>
                </a:solidFill>
              </a:defRPr>
            </a:pPr>
            <a:r>
              <a:rPr lang="es-MX" sz="6600" dirty="0">
                <a:solidFill>
                  <a:srgbClr val="D8EAF3"/>
                </a:solidFill>
              </a:rPr>
              <a:t>Gracias</a:t>
            </a:r>
            <a:endParaRPr sz="6600" b="0" i="0" dirty="0">
              <a:solidFill>
                <a:srgbClr val="D8EAF3"/>
              </a:solidFill>
            </a:endParaRPr>
          </a:p>
        </p:txBody>
      </p:sp>
      <p:sp>
        <p:nvSpPr>
          <p:cNvPr id="13" name="closing-footer">
            <a:extLst>
              <a:ext uri="{FF2B5EF4-FFF2-40B4-BE49-F238E27FC236}">
                <a16:creationId xmlns:a16="http://schemas.microsoft.com/office/drawing/2014/main" id="{5B8B9BB3-C981-450A-958A-1BAD887A3F94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1A6C8"/>
                </a:solidFill>
              </a:defRPr>
            </a:pPr>
            <a:r>
              <a:rPr sz="1125" b="1" i="0">
                <a:solidFill>
                  <a:srgbClr val="31A6C8"/>
                </a:solidFill>
              </a:rPr>
              <a:t>Monitoreo de autenticaciones ADFS · UTPL</a:t>
            </a:r>
          </a:p>
        </p:txBody>
      </p:sp>
    </p:spTree>
    <p:extLst>
      <p:ext uri="{BB962C8B-B14F-4D97-AF65-F5344CB8AC3E}">
        <p14:creationId xmlns:p14="http://schemas.microsoft.com/office/powerpoint/2010/main" val="9482413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1429</Words>
  <Application>Microsoft Office PowerPoint</Application>
  <DocSecurity>0</DocSecurity>
  <PresentationFormat>Panorámica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JEAN CARLOS CUENCA ALVARADO</cp:lastModifiedBy>
  <cp:revision>3</cp:revision>
  <dcterms:created xsi:type="dcterms:W3CDTF">2026-07-28T21:07:27Z</dcterms:created>
  <dcterms:modified xsi:type="dcterms:W3CDTF">2026-07-31T03:14:20Z</dcterms:modified>
</cp:coreProperties>
</file>